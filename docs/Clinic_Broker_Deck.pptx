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0022f346-8f7a-ad4e-de55-d4a784032ff8}">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(about 40 seconds). Say the track: Siting, with Accountability and Explanation built behind it as agents.
"Fulton County has one mobile clinic: a van, a nurse practitioner, a blood-pressure cuff, a glucometer. Four Saturdays a month. Where it parks is a public health decision worth more than most of what happens inside it." Then read the scenario sentence.
The number from our own data: 443,800 people live more than 5 km from a safety-net clinic; in 135 of 326 tracts (41%) it's farther than the nearest clinic of any kind; worst 28.6 km. Tract 13121010214 (the challenge's own example, and the area our community page opens on): 43% no car, 8.1 km. "With a car, 8 km is nothing. Without one, it's a day off work."
DEFENSE: distances are straight-line from tract centers to federal sites only (HRSA, CMS), so upper bounds; county and free clinics are in no national list. Why Fulton: the widest gap in the challenge between "any clinic" and "a clinic that takes the uninsured" (41% of tracts); the trade is zero live federal shortage areas (all 99 proposed for withdrawal), which we say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DOES (about 45 seconds). Show it live in the video.
The standard plan for November 2026: Nov 7 tract 13121007604 (a third of households have no car, 4.6 km to a clinic that sees the uninsured, follow-up at the Family Health Centers of Georgia), then 13121007400, 13121011430, 13121008701.
The trap (challenge notebook section 2): rank by air pollution and it fails. Fulton's worst tract is 9.81 µg/m³, best 8.98; p90/p10 1.05× (we measured 1.047). Asthma 1.48×, uninsured 3.11×, COPD 3.70×. EPA's model is a 12 km grid reported at tract centers: precision isn't resolution. Respiratory data is a four-county region, about 80 days old, so it can't describe a street either.
DEFENSE, what "needs the van" means (our choice, made on purpose): each tract with 500+ people is percent-ranked on uninsured adults 18-64 (0.30), distance to a safety-net clinic (0.25), no car (0.20), diabetes + blood pressure (0.15, what the van screens for), missed checkups (0.10). Skip tracts within 3 km of a safety-net clinic; keep stops 5 km apart. Optional weights (off by default): older adults, mobility difficulty, limited English. The stops come from deterministic SQL in our tool plan_saturdays: same settings, same plan. Change the weights in one place: data.py DEFAULT_WEIGHTS.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(about 45 seconds). Point at the numbered agents. Say: "The rule you were given forces the architecture."
The eight Gemini agents: (1) Request reviewer, (2) Planner, (3) Auditor, (4) Reviser, (5) Explainer, (6) Accountability writer plan the van; (7) Community helper (text) and (8) Community voice (live audio) answer residents from the published plan. Five code steps with no AI: three data lookups, the revise gate, the report.
Race is banned as an input and required as an audit, so the system needs a component that sees data the planner was denied, outside the planner's context, or it would defend the plan. That's the Auditor: the only agent with BigQuery's managed MCP server, so only it can join the plan to Census race and ethnicity (ACS 2016-2020, all 326 tracts). It runs with include_contents="none": it sees the plan, never the planner's reasoning. Proof in code: the Census table appears only in audit.py.
Coordination is real: request_review (reviewer → planner, which must follow its settings), plan_stops (planner's tool → auditor, which builds its Census query from it), audit_report (auditor → reviser). Every parallel branch writes its own key, because parallel branches share one state dictionary. The loop always ends on an audit, at most two revisions.
DEFENSE: "Is this three prompts in a trench coat?" No: open /dev-ui/ and show the State tab with those three keys. "Why Cloud Run?" One service serves our two interfaces and ADK's developer UI. Voice runs on Gemini Live native audio over ADK's /run_live websocket; Live is served from us-central1 only in the lab project, so that agent pins its own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FOUND (about 50 seconds). This answers judge question 4: "Show me the point where your system rejected its own first answer."
Request reviewer: a judgment against five guidelines from the README, not a word list. (1) Race and ethnicity are never inputs, nor stand-ins for them. (2) Places, never people. (3) Need first: a group with a real access need can be weighted, never an exclusive filter. (4) Honest scale: e.g. "go where COVID is rising in my neighborhood" is adjusted, because that data is four-county and weeks old. (5) Stated reasons: a councilman's request needs a specific area and is labelled not need-based. It runs alongside the data lookups and answers in about 4 seconds; the page shows the verdict as a coloured banner.
Auditor: compares the plan with the top quarter of tracts by the department's standard need score (the need pool), not with the county. A group (at least 10% of the need pool) is under-reached if its plan share is under half its need-pool share; an over-concentration must be explained by measured need or it's a proxy. Round 1: 65+ at 5.4% of the plan vs 13.4% of the need pool → REVISE (the rejection line is half the need-pool share, 6.7%). Round 2 (latest run): 18.0% vs 13.4% → PASS. Round-2 shares vary from run to run because the reviser chooses its own weights; round 1 is always 5.4% because the uninsured-only plan is deterministic.
DEFENSE, why race is in the audit and not the plan: race does correlate with these outcomes; it's a proxy for things we measure directly (insurance, cars, distance). Removing the column doesn't remove the bias ("fairness through unawareness" fails), so we check the outcome. The fix is never demographic: the reviser may change only need and access settings; if no need-based fix exists it keeps the plan and reports an open disagreement for the lead.
"What if the reviewer misses a race request?" Three layers: the planner has no race data at all, the reviewer judges the request, the auditor checks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IT SERVES (about 45 seconds). The Explanation track is "the part every team will skip and the part the challenge is named for."
Explainer (agent 5): warm, plain, sixth-grade, English and Spanish, no statistics. Its instructions contradict the planner's (hedge, cite, label every scale): judge question 3. It writes only headline, invitation and text message (structured output); code fills the date, the free checks, the follow-up clinic, address and hours; time and parking spot are blank lines for staff, so the model can't get a fact wrong on paper.
Community page: the lead presses Publish; only the resident-facing slice goes to BigQuery (published_plans), with no audit table and no demographics. The server reads it from the agents' own session, never from the request. Agents 7 and 8 answer from it with two tools we built (get_published_plan, find_my_stop). Tested: Spanish in, Spanish out with the real closest stop; chest pain → "Please call 911 right now."; "will we be next?" → honest, no promise.
Accountability writer (agent 6): formal, third person, figures from code and the auditor's own table only. 6.5% = 15,616 people in the stop tracts / 240,709 in the 81 highest-need tracts. An early draft said the plan reached "the majority" of need; we caught it and now compute the share in code. It also lists what to count on each Saturday (aggregate only) to show the money went where the need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(about 40 seconds). Read the four answers quickly, one limit, one next step, then the closing line:
"One county, one van, four Saturdays, and a reason you can say out loud to the people who live there, in their own language."
The four questions are the README's, numbered as the README numbers them. Backup for question 2: /dev-ui/ State tab. Backup for question 3: prompts.py (PLANNER vs EXPLAINER) and community_helper/core.py.
Measured vs modeled (judges check): PLACES rates (uninsured, diabetes, blood pressure, checkups, mobility) are modeled small-area estimates; two tracts a point apart may be the same tract. SVI/ACS values (no car, age 65+, limited English, disability, and race in the audit) are survey estimates. Distances are computed straight-line to federal sites only. PM2.5 is a modeled 12 km grid. NSSP respiratory visits are measured but regional (Clayton, DeKalb, Fulton, Gwinnett) and about 80 days old.
Defects we found and handled: 2010 vs 2020 tract boundaries (BigQuery's public shapes match only 108 of 326; we used Census TIGERweb 2020: all 326); the 18-64-only uninsured measure; stale regional respiratory data; 99 shortage areas all proposed for withdrawal; federal-only clinic list; the "majority" claim in a funder draft. Load matched the README's numbers exactly. Still to do: run the notebook's validation section and note its WARNs.
Hard questions: "What if an agent is wrong?" Stops come from deterministic SQL; the auditor checks every plan; its numbers come from a query, not memory. "Why not let the AI pick the stops?" A plan you defend to a funder must be reproducible: the model chooses settings, code chooses tracts. "Privacy?" Tract aggregates only; residents share only the area they tap. Licenses: all sources are US Government works; nothing share-alike, non-commercial or individual-level.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A3F3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10698480" cy="1005840"/>
          </a:xfrm>
          <a:prstGeom prst="rect">
            <a:avLst/>
          </a:prstGeom>
          <a:noFill/>
          <a:ln/>
        </p:spPr>
        <p:txBody>
          <a:bodyPr wrap="square" rtlCol="0"/>
          <a:lstStyle>
            <a:lvl1pPr algn="l" indent="0" marL="0">
              <a:buNone/>
              <a:defRPr lang="en-US" sz="5400" b="1" dirty="0">
                <a:solidFill>
                  <a:srgbClr val="FFFFFF"/>
                </a:solidFill>
                <a:latin typeface="Arial" pitchFamily="34" charset="0"/>
                <a:ea typeface="Arial" pitchFamily="34" charset="-122"/>
                <a:cs typeface="Arial" pitchFamily="34" charset="-120"/>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b="1" dirty="0">
                <a:solidFill>
                  <a:srgbClr val="14211F"/>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56645F"/>
                </a:solidFill>
                <a:latin typeface="Arial" pitchFamily="34" charset="0"/>
                <a:ea typeface="Arial" pitchFamily="34" charset="-122"/>
                <a:cs typeface="Arial" pitchFamily="34" charset="-120"/>
              </a:rPr>
              <a:t>Clinic Broker · Siting track · Agents for Impact 2026</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F"/>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31520" y="502920"/>
            <a:ext cx="731520" cy="731520"/>
          </a:xfrm>
          <a:prstGeom prst="roundRect">
            <a:avLst>
              <a:gd name="adj" fmla="val 20000"/>
            </a:avLst>
          </a:prstGeom>
          <a:solidFill>
            <a:srgbClr val="0D6B61"/>
          </a:solidFill>
          <a:ln w="12700">
            <a:solidFill>
              <a:srgbClr val="0D6B61"/>
            </a:solidFill>
            <a:prstDash val="solid"/>
          </a:ln>
        </p:spPr>
      </p:sp>
      <p:sp>
        <p:nvSpPr>
          <p:cNvPr id="3" name="Shape 1"/>
          <p:cNvSpPr/>
          <p:nvPr/>
        </p:nvSpPr>
        <p:spPr>
          <a:xfrm>
            <a:off x="1033272" y="640080"/>
            <a:ext cx="128016" cy="457200"/>
          </a:xfrm>
          <a:prstGeom prst="rect">
            <a:avLst/>
          </a:prstGeom>
          <a:solidFill>
            <a:srgbClr val="FFFFFF"/>
          </a:solidFill>
          <a:ln w="12700">
            <a:solidFill>
              <a:srgbClr val="FFFFFF"/>
            </a:solidFill>
            <a:prstDash val="solid"/>
          </a:ln>
        </p:spPr>
      </p:sp>
      <p:sp>
        <p:nvSpPr>
          <p:cNvPr id="4" name="Shape 2"/>
          <p:cNvSpPr/>
          <p:nvPr/>
        </p:nvSpPr>
        <p:spPr>
          <a:xfrm>
            <a:off x="868680" y="804672"/>
            <a:ext cx="457200" cy="128016"/>
          </a:xfrm>
          <a:prstGeom prst="rect">
            <a:avLst/>
          </a:prstGeom>
          <a:solidFill>
            <a:srgbClr val="FFFFFF"/>
          </a:solidFill>
          <a:ln w="12700">
            <a:solidFill>
              <a:srgbClr val="FFFFFF"/>
            </a:solidFill>
            <a:prstDash val="solid"/>
          </a:ln>
        </p:spPr>
      </p:sp>
      <p:sp>
        <p:nvSpPr>
          <p:cNvPr id="5" name="Text 3"/>
          <p:cNvSpPr txBox="1"/>
          <p:nvPr/>
        </p:nvSpPr>
        <p:spPr>
          <a:xfrm>
            <a:off x="1691640" y="713232"/>
            <a:ext cx="6400800" cy="320040"/>
          </a:xfrm>
          <a:prstGeom prst="rect">
            <a:avLst/>
          </a:prstGeom>
          <a:noFill/>
          <a:ln/>
        </p:spPr>
        <p:txBody>
          <a:bodyPr wrap="square" lIns="0" tIns="0" rIns="0" bIns="0" rtlCol="0" anchor="t"/>
          <a:lstStyle/>
          <a:p>
            <a:pPr indent="0" marL="0">
              <a:buNone/>
            </a:pPr>
            <a:r>
              <a:rPr lang="en-US" sz="1400" b="1" spc="200" kern="0" dirty="0">
                <a:solidFill>
                  <a:srgbClr val="9FD8CD"/>
                </a:solidFill>
                <a:latin typeface="Arial" pitchFamily="34" charset="0"/>
                <a:ea typeface="Arial" pitchFamily="34" charset="-122"/>
                <a:cs typeface="Arial" pitchFamily="34" charset="-120"/>
              </a:rPr>
              <a:t>AGENTS FOR IMPACT 2026 · CHALLENGE 5</a:t>
            </a:r>
            <a:endParaRPr lang="en-US" sz="1400" dirty="0"/>
          </a:p>
        </p:txBody>
      </p:sp>
      <p:sp>
        <p:nvSpPr>
          <p:cNvPr id="6" name="Shape 4"/>
          <p:cNvSpPr/>
          <p:nvPr/>
        </p:nvSpPr>
        <p:spPr>
          <a:xfrm>
            <a:off x="8686800" y="685800"/>
            <a:ext cx="2743200" cy="329184"/>
          </a:xfrm>
          <a:prstGeom prst="roundRect">
            <a:avLst>
              <a:gd name="adj" fmla="val 50000"/>
            </a:avLst>
          </a:prstGeom>
          <a:solidFill>
            <a:srgbClr val="FFFFFF"/>
          </a:solidFill>
          <a:ln w="12700">
            <a:solidFill>
              <a:srgbClr val="FFFFFF"/>
            </a:solidFill>
            <a:prstDash val="solid"/>
          </a:ln>
        </p:spPr>
      </p:sp>
      <p:sp>
        <p:nvSpPr>
          <p:cNvPr id="7" name="Text 5"/>
          <p:cNvSpPr txBox="1"/>
          <p:nvPr/>
        </p:nvSpPr>
        <p:spPr>
          <a:xfrm>
            <a:off x="8686800" y="685800"/>
            <a:ext cx="2743200" cy="329184"/>
          </a:xfrm>
          <a:prstGeom prst="rect">
            <a:avLst/>
          </a:prstGeom>
          <a:noFill/>
          <a:ln/>
        </p:spPr>
        <p:txBody>
          <a:bodyPr wrap="square" lIns="0" tIns="0" rIns="0" bIns="0" rtlCol="0" anchor="ctr"/>
          <a:lstStyle/>
          <a:p>
            <a:pPr algn="ctr" indent="0" marL="0">
              <a:buNone/>
            </a:pPr>
            <a:r>
              <a:rPr lang="en-US" sz="1200" b="1" dirty="0">
                <a:solidFill>
                  <a:srgbClr val="0A3F39"/>
                </a:solidFill>
                <a:latin typeface="Arial" pitchFamily="34" charset="0"/>
                <a:ea typeface="Arial" pitchFamily="34" charset="-122"/>
                <a:cs typeface="Arial" pitchFamily="34" charset="-120"/>
              </a:rPr>
              <a:t>TRACK: SITING</a:t>
            </a:r>
            <a:endParaRPr lang="en-US" sz="1200" dirty="0"/>
          </a:p>
        </p:txBody>
      </p:sp>
      <p:sp>
        <p:nvSpPr>
          <p:cNvPr id="8" name="Text 0"/>
          <p:cNvSpPr/>
          <p:nvPr>
            <p:ph idx="100" type="title" hasCustomPrompt="1"/>
          </p:nvPr>
        </p:nvSpPr>
        <p:spPr>
          <a:xfrm>
            <a:off x="731520" y="1600200"/>
            <a:ext cx="10698480" cy="1005840"/>
          </a:xfrm>
          <a:prstGeom prst="rect">
            <a:avLst/>
          </a:prstGeom>
          <a:noFill/>
          <a:ln/>
        </p:spPr>
        <p:txBody>
          <a:bodyPr wrap="square" lIns="0" tIns="0" rIns="0" bIns="0" rtlCol="0" anchor="t"/>
          <a:lstStyle/>
          <a:p>
            <a:pPr algn="l" indent="0" marL="0">
              <a:buNone/>
            </a:pPr>
            <a:r>
              <a:rPr lang="en-US" sz="5400" b="1" dirty="0">
                <a:solidFill>
                  <a:srgbClr val="FFFFFF"/>
                </a:solidFill>
                <a:latin typeface="Arial" pitchFamily="34" charset="0"/>
                <a:ea typeface="Arial" pitchFamily="34" charset="-122"/>
                <a:cs typeface="Arial" pitchFamily="34" charset="-120"/>
              </a:rPr>
              <a:t>Clinic Broker</a:t>
            </a:r>
            <a:endParaRPr lang="en-US" sz="5400" dirty="0"/>
          </a:p>
        </p:txBody>
      </p:sp>
      <p:sp>
        <p:nvSpPr>
          <p:cNvPr id="9" name="Text 7"/>
          <p:cNvSpPr txBox="1"/>
          <p:nvPr/>
        </p:nvSpPr>
        <p:spPr>
          <a:xfrm>
            <a:off x="731520" y="2606040"/>
            <a:ext cx="10515600" cy="502920"/>
          </a:xfrm>
          <a:prstGeom prst="rect">
            <a:avLst/>
          </a:prstGeom>
          <a:noFill/>
          <a:ln/>
        </p:spPr>
        <p:txBody>
          <a:bodyPr wrap="square" lIns="0" tIns="0" rIns="0" bIns="0" rtlCol="0" anchor="t"/>
          <a:lstStyle/>
          <a:p>
            <a:pPr indent="0" marL="0">
              <a:buNone/>
            </a:pPr>
            <a:r>
              <a:rPr lang="en-US" sz="2400" dirty="0">
                <a:solidFill>
                  <a:srgbClr val="D7EFE9"/>
                </a:solidFill>
                <a:latin typeface="Arial" pitchFamily="34" charset="0"/>
                <a:ea typeface="Arial" pitchFamily="34" charset="-122"/>
                <a:cs typeface="Arial" pitchFamily="34" charset="-120"/>
              </a:rPr>
              <a:t>Where Fulton County's one mobile clinic parks, and why</a:t>
            </a:r>
            <a:endParaRPr lang="en-US" sz="2400" dirty="0"/>
          </a:p>
        </p:txBody>
      </p:sp>
      <p:sp>
        <p:nvSpPr>
          <p:cNvPr id="10" name="Shape 8"/>
          <p:cNvSpPr/>
          <p:nvPr/>
        </p:nvSpPr>
        <p:spPr>
          <a:xfrm>
            <a:off x="731520" y="3291840"/>
            <a:ext cx="10698480" cy="1234440"/>
          </a:xfrm>
          <a:prstGeom prst="roundRect">
            <a:avLst>
              <a:gd name="adj" fmla="val 8889"/>
            </a:avLst>
          </a:prstGeom>
          <a:solidFill>
            <a:srgbClr val="11524B"/>
          </a:solidFill>
          <a:ln w="12700">
            <a:solidFill>
              <a:srgbClr val="11524B"/>
            </a:solidFill>
            <a:prstDash val="solid"/>
          </a:ln>
        </p:spPr>
      </p:sp>
      <p:sp>
        <p:nvSpPr>
          <p:cNvPr id="11" name="Text 9"/>
          <p:cNvSpPr txBox="1"/>
          <p:nvPr/>
        </p:nvSpPr>
        <p:spPr>
          <a:xfrm>
            <a:off x="1005840" y="3456432"/>
            <a:ext cx="10149840" cy="96012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Our agent helps the </a:t>
            </a:r>
            <a:pPr indent="0" marL="0">
              <a:buNone/>
            </a:pPr>
            <a:r>
              <a:rPr lang="en-US" sz="1600" b="1" dirty="0">
                <a:solidFill>
                  <a:srgbClr val="FFFFFF"/>
                </a:solidFill>
                <a:latin typeface="Arial" pitchFamily="34" charset="0"/>
                <a:ea typeface="Arial" pitchFamily="34" charset="-122"/>
                <a:cs typeface="Arial" pitchFamily="34" charset="-120"/>
              </a:rPr>
              <a:t>outreach lead</a:t>
            </a:r>
            <a:pPr indent="0" marL="0">
              <a:buNone/>
            </a:pPr>
            <a:r>
              <a:rPr lang="en-US" sz="1600" dirty="0">
                <a:solidFill>
                  <a:srgbClr val="FFFFFF"/>
                </a:solidFill>
                <a:latin typeface="Arial" pitchFamily="34" charset="0"/>
                <a:ea typeface="Arial" pitchFamily="34" charset="-122"/>
                <a:cs typeface="Arial" pitchFamily="34" charset="-120"/>
              </a:rPr>
              <a:t> in </a:t>
            </a:r>
            <a:pPr indent="0" marL="0">
              <a:buNone/>
            </a:pPr>
            <a:r>
              <a:rPr lang="en-US" sz="1600" b="1" dirty="0">
                <a:solidFill>
                  <a:srgbClr val="FFFFFF"/>
                </a:solidFill>
                <a:latin typeface="Arial" pitchFamily="34" charset="0"/>
                <a:ea typeface="Arial" pitchFamily="34" charset="-122"/>
                <a:cs typeface="Arial" pitchFamily="34" charset="-120"/>
              </a:rPr>
              <a:t>Fulton County, GA</a:t>
            </a:r>
            <a:pPr indent="0" marL="0">
              <a:buNone/>
            </a:pPr>
            <a:r>
              <a:rPr lang="en-US" sz="1600" dirty="0">
                <a:solidFill>
                  <a:srgbClr val="FFFFFF"/>
                </a:solidFill>
                <a:latin typeface="Arial" pitchFamily="34" charset="0"/>
                <a:ea typeface="Arial" pitchFamily="34" charset="-122"/>
                <a:cs typeface="Arial" pitchFamily="34" charset="-120"/>
              </a:rPr>
              <a:t> decide where the van parks on next month's four Saturdays. What it knows that a spreadsheet doesn't: </a:t>
            </a:r>
            <a:pPr indent="0" marL="0">
              <a:buNone/>
            </a:pPr>
            <a:r>
              <a:rPr lang="en-US" sz="1600" b="1" dirty="0">
                <a:solidFill>
                  <a:srgbClr val="FFFFFF"/>
                </a:solidFill>
                <a:latin typeface="Arial" pitchFamily="34" charset="0"/>
                <a:ea typeface="Arial" pitchFamily="34" charset="-122"/>
                <a:cs typeface="Arial" pitchFamily="34" charset="-120"/>
              </a:rPr>
              <a:t>which of its numbers it can trust, at what scale, and whether the plan lands fairly on the people it's meant to reach.</a:t>
            </a:r>
            <a:endParaRPr lang="en-US" sz="1600" dirty="0"/>
          </a:p>
        </p:txBody>
      </p:sp>
      <p:sp>
        <p:nvSpPr>
          <p:cNvPr id="12" name="Text 10"/>
          <p:cNvSpPr txBox="1"/>
          <p:nvPr/>
        </p:nvSpPr>
        <p:spPr>
          <a:xfrm>
            <a:off x="731520" y="4846320"/>
            <a:ext cx="3383280" cy="685800"/>
          </a:xfrm>
          <a:prstGeom prst="rect">
            <a:avLst/>
          </a:prstGeom>
          <a:noFill/>
          <a:ln/>
        </p:spPr>
        <p:txBody>
          <a:bodyPr wrap="square" lIns="0" tIns="0" rIns="0" bIns="0" rtlCol="0" anchor="t"/>
          <a:lstStyle/>
          <a:p>
            <a:pPr indent="0" marL="0">
              <a:buNone/>
            </a:pPr>
            <a:r>
              <a:rPr lang="en-US" sz="3600" b="1" dirty="0">
                <a:solidFill>
                  <a:srgbClr val="9FD8CD"/>
                </a:solidFill>
                <a:latin typeface="Arial" pitchFamily="34" charset="0"/>
                <a:ea typeface="Arial" pitchFamily="34" charset="-122"/>
                <a:cs typeface="Arial" pitchFamily="34" charset="-120"/>
              </a:rPr>
              <a:t>443,800</a:t>
            </a:r>
            <a:endParaRPr lang="en-US" sz="3600" dirty="0"/>
          </a:p>
        </p:txBody>
      </p:sp>
      <p:sp>
        <p:nvSpPr>
          <p:cNvPr id="13" name="Text 11"/>
          <p:cNvSpPr txBox="1"/>
          <p:nvPr/>
        </p:nvSpPr>
        <p:spPr>
          <a:xfrm>
            <a:off x="731520" y="5532120"/>
            <a:ext cx="3291840" cy="731520"/>
          </a:xfrm>
          <a:prstGeom prst="rect">
            <a:avLst/>
          </a:prstGeom>
          <a:noFill/>
          <a:ln/>
        </p:spPr>
        <p:txBody>
          <a:bodyPr wrap="square" lIns="0" tIns="0" rIns="0" bIns="0" rtlCol="0" anchor="t"/>
          <a:lstStyle/>
          <a:p>
            <a:pPr indent="0" marL="0">
              <a:buNone/>
            </a:pPr>
            <a:r>
              <a:rPr lang="en-US" sz="1300" dirty="0">
                <a:solidFill>
                  <a:srgbClr val="D7EFE9"/>
                </a:solidFill>
                <a:latin typeface="Arial" pitchFamily="34" charset="0"/>
                <a:ea typeface="Arial" pitchFamily="34" charset="-122"/>
                <a:cs typeface="Arial" pitchFamily="34" charset="-120"/>
              </a:rPr>
              <a:t>people live more than 5 km from a clinic that will see them without insurance</a:t>
            </a:r>
            <a:endParaRPr lang="en-US" sz="1300" dirty="0"/>
          </a:p>
        </p:txBody>
      </p:sp>
      <p:sp>
        <p:nvSpPr>
          <p:cNvPr id="14" name="Text 12"/>
          <p:cNvSpPr txBox="1"/>
          <p:nvPr/>
        </p:nvSpPr>
        <p:spPr>
          <a:xfrm>
            <a:off x="4343400" y="4846320"/>
            <a:ext cx="3383280" cy="685800"/>
          </a:xfrm>
          <a:prstGeom prst="rect">
            <a:avLst/>
          </a:prstGeom>
          <a:noFill/>
          <a:ln/>
        </p:spPr>
        <p:txBody>
          <a:bodyPr wrap="square" lIns="0" tIns="0" rIns="0" bIns="0" rtlCol="0" anchor="t"/>
          <a:lstStyle/>
          <a:p>
            <a:pPr indent="0" marL="0">
              <a:buNone/>
            </a:pPr>
            <a:r>
              <a:rPr lang="en-US" sz="3600" b="1" dirty="0">
                <a:solidFill>
                  <a:srgbClr val="9FD8CD"/>
                </a:solidFill>
                <a:latin typeface="Arial" pitchFamily="34" charset="0"/>
                <a:ea typeface="Arial" pitchFamily="34" charset="-122"/>
                <a:cs typeface="Arial" pitchFamily="34" charset="-120"/>
              </a:rPr>
              <a:t>135 of 326</a:t>
            </a:r>
            <a:endParaRPr lang="en-US" sz="3600" dirty="0"/>
          </a:p>
        </p:txBody>
      </p:sp>
      <p:sp>
        <p:nvSpPr>
          <p:cNvPr id="15" name="Text 13"/>
          <p:cNvSpPr txBox="1"/>
          <p:nvPr/>
        </p:nvSpPr>
        <p:spPr>
          <a:xfrm>
            <a:off x="4343400" y="5532120"/>
            <a:ext cx="3291840" cy="731520"/>
          </a:xfrm>
          <a:prstGeom prst="rect">
            <a:avLst/>
          </a:prstGeom>
          <a:noFill/>
          <a:ln/>
        </p:spPr>
        <p:txBody>
          <a:bodyPr wrap="square" lIns="0" tIns="0" rIns="0" bIns="0" rtlCol="0" anchor="t"/>
          <a:lstStyle/>
          <a:p>
            <a:pPr indent="0" marL="0">
              <a:buNone/>
            </a:pPr>
            <a:r>
              <a:rPr lang="en-US" sz="1300" dirty="0">
                <a:solidFill>
                  <a:srgbClr val="D7EFE9"/>
                </a:solidFill>
                <a:latin typeface="Arial" pitchFamily="34" charset="0"/>
                <a:ea typeface="Arial" pitchFamily="34" charset="-122"/>
                <a:cs typeface="Arial" pitchFamily="34" charset="-120"/>
              </a:rPr>
              <a:t>tracts where that clinic is farther than the nearest clinic of any kind</a:t>
            </a:r>
            <a:endParaRPr lang="en-US" sz="1300" dirty="0"/>
          </a:p>
        </p:txBody>
      </p:sp>
      <p:sp>
        <p:nvSpPr>
          <p:cNvPr id="16" name="Text 14"/>
          <p:cNvSpPr txBox="1"/>
          <p:nvPr/>
        </p:nvSpPr>
        <p:spPr>
          <a:xfrm>
            <a:off x="7955280" y="4846320"/>
            <a:ext cx="3383280" cy="685800"/>
          </a:xfrm>
          <a:prstGeom prst="rect">
            <a:avLst/>
          </a:prstGeom>
          <a:noFill/>
          <a:ln/>
        </p:spPr>
        <p:txBody>
          <a:bodyPr wrap="square" lIns="0" tIns="0" rIns="0" bIns="0" rtlCol="0" anchor="t"/>
          <a:lstStyle/>
          <a:p>
            <a:pPr indent="0" marL="0">
              <a:buNone/>
            </a:pPr>
            <a:r>
              <a:rPr lang="en-US" sz="3600" b="1" dirty="0">
                <a:solidFill>
                  <a:srgbClr val="9FD8CD"/>
                </a:solidFill>
                <a:latin typeface="Arial" pitchFamily="34" charset="0"/>
                <a:ea typeface="Arial" pitchFamily="34" charset="-122"/>
                <a:cs typeface="Arial" pitchFamily="34" charset="-120"/>
              </a:rPr>
              <a:t>43%</a:t>
            </a:r>
            <a:endParaRPr lang="en-US" sz="3600" dirty="0"/>
          </a:p>
        </p:txBody>
      </p:sp>
      <p:sp>
        <p:nvSpPr>
          <p:cNvPr id="17" name="Text 15"/>
          <p:cNvSpPr txBox="1"/>
          <p:nvPr/>
        </p:nvSpPr>
        <p:spPr>
          <a:xfrm>
            <a:off x="7955280" y="5532120"/>
            <a:ext cx="3291840" cy="731520"/>
          </a:xfrm>
          <a:prstGeom prst="rect">
            <a:avLst/>
          </a:prstGeom>
          <a:noFill/>
          <a:ln/>
        </p:spPr>
        <p:txBody>
          <a:bodyPr wrap="square" lIns="0" tIns="0" rIns="0" bIns="0" rtlCol="0" anchor="t"/>
          <a:lstStyle/>
          <a:p>
            <a:pPr indent="0" marL="0">
              <a:buNone/>
            </a:pPr>
            <a:r>
              <a:rPr lang="en-US" sz="1300" dirty="0">
                <a:solidFill>
                  <a:srgbClr val="D7EFE9"/>
                </a:solidFill>
                <a:latin typeface="Arial" pitchFamily="34" charset="0"/>
                <a:ea typeface="Arial" pitchFamily="34" charset="-122"/>
                <a:cs typeface="Arial" pitchFamily="34" charset="-120"/>
              </a:rPr>
              <a:t>of households have no car in tract 13121010214, 8.1 km from such a clinic</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t"/>
          <a:lstStyle/>
          <a:p>
            <a:pPr algn="l" indent="0" marL="0">
              <a:buNone/>
            </a:pPr>
            <a:r>
              <a:rPr lang="en-US" sz="3000" b="1" dirty="0">
                <a:solidFill>
                  <a:srgbClr val="14211F"/>
                </a:solidFill>
                <a:latin typeface="Arial" pitchFamily="34" charset="0"/>
                <a:ea typeface="Arial" pitchFamily="34" charset="-122"/>
                <a:cs typeface="Arial" pitchFamily="34" charset="-120"/>
              </a:rPr>
              <a:t>What it does: four Saturdays, each with a reason</a:t>
            </a:r>
            <a:endParaRPr lang="en-US" sz="3000" dirty="0"/>
          </a:p>
        </p:txBody>
      </p:sp>
      <p:pic>
        <p:nvPicPr>
          <p:cNvPr id="3" name="Image 0" descr="/private/tmp/claude-503/-Users-T956736-Documents-hack-gemini-Public-health-05/1d4f1ed3-cd71-4935-95a0-977112d4e0ad/scratchpad/deck/img/plan.png">    </p:cNvPr>
          <p:cNvPicPr>
            <a:picLocks noChangeAspect="1"/>
          </p:cNvPicPr>
          <p:nvPr/>
        </p:nvPicPr>
        <p:blipFill>
          <a:blip r:embed="rId1"/>
          <a:stretch>
            <a:fillRect/>
          </a:stretch>
        </p:blipFill>
        <p:spPr>
          <a:xfrm>
            <a:off x="548640" y="1280160"/>
            <a:ext cx="7589520" cy="4480560"/>
          </a:xfrm>
          <a:prstGeom prst="rect">
            <a:avLst/>
          </a:prstGeom>
          <a:effectLst>
            <a:outerShdw sx="100000" sy="100000" kx="0" ky="0" algn="bl" rotWithShape="0" blurRad="76200" dist="25400" dir="5400000">
              <a:srgbClr val="000000">
                <a:alpha val="12000"/>
              </a:srgbClr>
            </a:outerShdw>
          </a:effectLst>
        </p:spPr>
      </p:pic>
      <p:sp>
        <p:nvSpPr>
          <p:cNvPr id="4" name="Text 1"/>
          <p:cNvSpPr txBox="1"/>
          <p:nvPr/>
        </p:nvSpPr>
        <p:spPr>
          <a:xfrm>
            <a:off x="548640" y="5870448"/>
            <a:ext cx="7589520" cy="320040"/>
          </a:xfrm>
          <a:prstGeom prst="rect">
            <a:avLst/>
          </a:prstGeom>
          <a:noFill/>
          <a:ln/>
        </p:spPr>
        <p:txBody>
          <a:bodyPr wrap="square" lIns="0" tIns="0" rIns="0" bIns="0" rtlCol="0" anchor="t"/>
          <a:lstStyle/>
          <a:p>
            <a:pPr indent="0" marL="0">
              <a:buNone/>
            </a:pPr>
            <a:r>
              <a:rPr lang="en-US" sz="1100" dirty="0">
                <a:solidFill>
                  <a:srgbClr val="56645F"/>
                </a:solidFill>
                <a:latin typeface="Arial" pitchFamily="34" charset="0"/>
                <a:ea typeface="Arial" pitchFamily="34" charset="-122"/>
                <a:cs typeface="Arial" pitchFamily="34" charset="-120"/>
              </a:rPr>
              <a:t>The live planning page: map shaded by need, numbered stops, Saturday cards</a:t>
            </a:r>
            <a:endParaRPr lang="en-US" sz="1100" dirty="0"/>
          </a:p>
        </p:txBody>
      </p:sp>
      <p:sp>
        <p:nvSpPr>
          <p:cNvPr id="5" name="Text 2"/>
          <p:cNvSpPr txBox="1"/>
          <p:nvPr/>
        </p:nvSpPr>
        <p:spPr>
          <a:xfrm>
            <a:off x="8458200" y="1280160"/>
            <a:ext cx="3200400" cy="320040"/>
          </a:xfrm>
          <a:prstGeom prst="rect">
            <a:avLst/>
          </a:prstGeom>
          <a:noFill/>
          <a:ln/>
        </p:spPr>
        <p:txBody>
          <a:bodyPr wrap="square" lIns="0" tIns="0" rIns="0" bIns="0" rtlCol="0" anchor="t"/>
          <a:lstStyle/>
          <a:p>
            <a:pPr indent="0" marL="0">
              <a:buNone/>
            </a:pPr>
            <a:r>
              <a:rPr lang="en-US" sz="1500" b="1" dirty="0">
                <a:solidFill>
                  <a:srgbClr val="0D6B61"/>
                </a:solidFill>
                <a:latin typeface="Arial" pitchFamily="34" charset="0"/>
                <a:ea typeface="Arial" pitchFamily="34" charset="-122"/>
                <a:cs typeface="Arial" pitchFamily="34" charset="-120"/>
              </a:rPr>
              <a:t>Named, dated stops</a:t>
            </a:r>
            <a:endParaRPr lang="en-US" sz="1500" dirty="0"/>
          </a:p>
        </p:txBody>
      </p:sp>
      <p:sp>
        <p:nvSpPr>
          <p:cNvPr id="6" name="Text 3"/>
          <p:cNvSpPr txBox="1"/>
          <p:nvPr/>
        </p:nvSpPr>
        <p:spPr>
          <a:xfrm>
            <a:off x="8458200" y="1609344"/>
            <a:ext cx="3200400" cy="566928"/>
          </a:xfrm>
          <a:prstGeom prst="rect">
            <a:avLst/>
          </a:prstGeom>
          <a:noFill/>
          <a:ln/>
        </p:spPr>
        <p:txBody>
          <a:bodyPr wrap="square" lIns="0" tIns="0" rIns="0" bIns="0" rtlCol="0" anchor="t"/>
          <a:lstStyle/>
          <a:p>
            <a:pPr indent="0" marL="0">
              <a:buNone/>
            </a:pPr>
            <a:r>
              <a:rPr lang="en-US" sz="1300" dirty="0">
                <a:solidFill>
                  <a:srgbClr val="14211F"/>
                </a:solidFill>
                <a:latin typeface="Arial" pitchFamily="34" charset="0"/>
                <a:ea typeface="Arial" pitchFamily="34" charset="-122"/>
                <a:cs typeface="Arial" pitchFamily="34" charset="-120"/>
              </a:rPr>
              <a:t>Four tracts, 5 km apart, each with the nearest clinic that sees the uninsured.</a:t>
            </a:r>
            <a:endParaRPr lang="en-US" sz="1300" dirty="0"/>
          </a:p>
        </p:txBody>
      </p:sp>
      <p:sp>
        <p:nvSpPr>
          <p:cNvPr id="7" name="Text 4"/>
          <p:cNvSpPr txBox="1"/>
          <p:nvPr/>
        </p:nvSpPr>
        <p:spPr>
          <a:xfrm>
            <a:off x="8458200" y="2212848"/>
            <a:ext cx="3200400" cy="320040"/>
          </a:xfrm>
          <a:prstGeom prst="rect">
            <a:avLst/>
          </a:prstGeom>
          <a:noFill/>
          <a:ln/>
        </p:spPr>
        <p:txBody>
          <a:bodyPr wrap="square" lIns="0" tIns="0" rIns="0" bIns="0" rtlCol="0" anchor="t"/>
          <a:lstStyle/>
          <a:p>
            <a:pPr indent="0" marL="0">
              <a:buNone/>
            </a:pPr>
            <a:r>
              <a:rPr lang="en-US" sz="1500" b="1" dirty="0">
                <a:solidFill>
                  <a:srgbClr val="0D6B61"/>
                </a:solidFill>
                <a:latin typeface="Arial" pitchFamily="34" charset="0"/>
                <a:ea typeface="Arial" pitchFamily="34" charset="-122"/>
                <a:cs typeface="Arial" pitchFamily="34" charset="-120"/>
              </a:rPr>
              <a:t>Every number has its scale</a:t>
            </a:r>
            <a:endParaRPr lang="en-US" sz="1500" dirty="0"/>
          </a:p>
        </p:txBody>
      </p:sp>
      <p:sp>
        <p:nvSpPr>
          <p:cNvPr id="8" name="Text 5"/>
          <p:cNvSpPr txBox="1"/>
          <p:nvPr/>
        </p:nvSpPr>
        <p:spPr>
          <a:xfrm>
            <a:off x="8458200" y="2542032"/>
            <a:ext cx="3200400" cy="566928"/>
          </a:xfrm>
          <a:prstGeom prst="rect">
            <a:avLst/>
          </a:prstGeom>
          <a:noFill/>
          <a:ln/>
        </p:spPr>
        <p:txBody>
          <a:bodyPr wrap="square" lIns="0" tIns="0" rIns="0" bIns="0" rtlCol="0" anchor="t"/>
          <a:lstStyle/>
          <a:p>
            <a:pPr indent="0" marL="0">
              <a:buNone/>
            </a:pPr>
            <a:r>
              <a:rPr lang="en-US" sz="1300" dirty="0">
                <a:solidFill>
                  <a:srgbClr val="14211F"/>
                </a:solidFill>
                <a:latin typeface="Arial" pitchFamily="34" charset="0"/>
                <a:ea typeface="Arial" pitchFamily="34" charset="-122"/>
                <a:cs typeface="Arial" pitchFamily="34" charset="-120"/>
              </a:rPr>
              <a:t>Tract or region, modeled or survey, straight-line distance: labelled.</a:t>
            </a:r>
            <a:endParaRPr lang="en-US" sz="1300" dirty="0"/>
          </a:p>
        </p:txBody>
      </p:sp>
      <p:sp>
        <p:nvSpPr>
          <p:cNvPr id="9" name="Text 6"/>
          <p:cNvSpPr txBox="1"/>
          <p:nvPr/>
        </p:nvSpPr>
        <p:spPr>
          <a:xfrm>
            <a:off x="8458200" y="3145536"/>
            <a:ext cx="3200400" cy="320040"/>
          </a:xfrm>
          <a:prstGeom prst="rect">
            <a:avLst/>
          </a:prstGeom>
          <a:noFill/>
          <a:ln/>
        </p:spPr>
        <p:txBody>
          <a:bodyPr wrap="square" lIns="0" tIns="0" rIns="0" bIns="0" rtlCol="0" anchor="t"/>
          <a:lstStyle/>
          <a:p>
            <a:pPr indent="0" marL="0">
              <a:buNone/>
            </a:pPr>
            <a:r>
              <a:rPr lang="en-US" sz="1500" b="1" dirty="0">
                <a:solidFill>
                  <a:srgbClr val="0D6B61"/>
                </a:solidFill>
                <a:latin typeface="Arial" pitchFamily="34" charset="0"/>
                <a:ea typeface="Arial" pitchFamily="34" charset="-122"/>
                <a:cs typeface="Arial" pitchFamily="34" charset="-120"/>
              </a:rPr>
              <a:t>Settings on screen</a:t>
            </a:r>
            <a:endParaRPr lang="en-US" sz="1500" dirty="0"/>
          </a:p>
        </p:txBody>
      </p:sp>
      <p:sp>
        <p:nvSpPr>
          <p:cNvPr id="10" name="Text 7"/>
          <p:cNvSpPr txBox="1"/>
          <p:nvPr/>
        </p:nvSpPr>
        <p:spPr>
          <a:xfrm>
            <a:off x="8458200" y="3474720"/>
            <a:ext cx="3200400" cy="566928"/>
          </a:xfrm>
          <a:prstGeom prst="rect">
            <a:avLst/>
          </a:prstGeom>
          <a:noFill/>
          <a:ln/>
        </p:spPr>
        <p:txBody>
          <a:bodyPr wrap="square" lIns="0" tIns="0" rIns="0" bIns="0" rtlCol="0" anchor="t"/>
          <a:lstStyle/>
          <a:p>
            <a:pPr indent="0" marL="0">
              <a:buNone/>
            </a:pPr>
            <a:r>
              <a:rPr lang="en-US" sz="1300" dirty="0">
                <a:solidFill>
                  <a:srgbClr val="14211F"/>
                </a:solidFill>
                <a:latin typeface="Arial" pitchFamily="34" charset="0"/>
                <a:ea typeface="Arial" pitchFamily="34" charset="-122"/>
                <a:cs typeface="Arial" pitchFamily="34" charset="-120"/>
              </a:rPr>
              <a:t>The page shows what a request changed.</a:t>
            </a:r>
            <a:endParaRPr lang="en-US" sz="1300" dirty="0"/>
          </a:p>
        </p:txBody>
      </p:sp>
      <p:sp>
        <p:nvSpPr>
          <p:cNvPr id="11" name="Shape 8"/>
          <p:cNvSpPr/>
          <p:nvPr/>
        </p:nvSpPr>
        <p:spPr>
          <a:xfrm>
            <a:off x="8458200" y="4206240"/>
            <a:ext cx="3200400" cy="1600200"/>
          </a:xfrm>
          <a:prstGeom prst="roundRect">
            <a:avLst>
              <a:gd name="adj" fmla="val 6857"/>
            </a:avLst>
          </a:prstGeom>
          <a:solidFill>
            <a:srgbClr val="FBEEDD"/>
          </a:solidFill>
          <a:ln w="12700">
            <a:solidFill>
              <a:srgbClr val="9A5200"/>
            </a:solidFill>
            <a:prstDash val="solid"/>
          </a:ln>
        </p:spPr>
      </p:sp>
      <p:sp>
        <p:nvSpPr>
          <p:cNvPr id="12" name="Text 9"/>
          <p:cNvSpPr txBox="1"/>
          <p:nvPr/>
        </p:nvSpPr>
        <p:spPr>
          <a:xfrm>
            <a:off x="8641080" y="4315968"/>
            <a:ext cx="2834640" cy="292608"/>
          </a:xfrm>
          <a:prstGeom prst="rect">
            <a:avLst/>
          </a:prstGeom>
          <a:noFill/>
          <a:ln/>
        </p:spPr>
        <p:txBody>
          <a:bodyPr wrap="square" lIns="0" tIns="0" rIns="0" bIns="0" rtlCol="0" anchor="t"/>
          <a:lstStyle/>
          <a:p>
            <a:pPr indent="0" marL="0">
              <a:buNone/>
            </a:pPr>
            <a:r>
              <a:rPr lang="en-US" sz="1300" b="1" dirty="0">
                <a:solidFill>
                  <a:srgbClr val="9A5200"/>
                </a:solidFill>
                <a:latin typeface="Arial" pitchFamily="34" charset="0"/>
                <a:ea typeface="Arial" pitchFamily="34" charset="-122"/>
                <a:cs typeface="Arial" pitchFamily="34" charset="-120"/>
              </a:rPr>
              <a:t>The obvious answer fails</a:t>
            </a:r>
            <a:endParaRPr lang="en-US" sz="1300" dirty="0"/>
          </a:p>
        </p:txBody>
      </p:sp>
      <p:sp>
        <p:nvSpPr>
          <p:cNvPr id="13" name="Text 10"/>
          <p:cNvSpPr txBox="1"/>
          <p:nvPr/>
        </p:nvSpPr>
        <p:spPr>
          <a:xfrm>
            <a:off x="8641080" y="4617720"/>
            <a:ext cx="2880360" cy="1143000"/>
          </a:xfrm>
          <a:prstGeom prst="rect">
            <a:avLst/>
          </a:prstGeom>
          <a:noFill/>
          <a:ln/>
        </p:spPr>
        <p:txBody>
          <a:bodyPr wrap="square" lIns="0" tIns="0" rIns="0" bIns="0" rtlCol="0" anchor="t"/>
          <a:lstStyle/>
          <a:p>
            <a:pPr indent="0" marL="0">
              <a:buNone/>
            </a:pPr>
            <a:r>
              <a:rPr lang="en-US" sz="1250" dirty="0">
                <a:solidFill>
                  <a:srgbClr val="14211F"/>
                </a:solidFill>
                <a:latin typeface="Arial" pitchFamily="34" charset="0"/>
                <a:ea typeface="Arial" pitchFamily="34" charset="-122"/>
                <a:cs typeface="Arial" pitchFamily="34" charset="-120"/>
              </a:rPr>
              <a:t>Air (PM2.5) varies only 1.05× across tracts, uninsured rates 3.11×. It's a 12 km grid, so it is never used to pick a neighborhood.</a:t>
            </a:r>
            <a:endParaRPr lang="en-US" sz="12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t"/>
          <a:lstStyle/>
          <a:p>
            <a:pPr algn="l" indent="0" marL="0">
              <a:buNone/>
            </a:pPr>
            <a:r>
              <a:rPr lang="en-US" sz="3000" b="1" dirty="0">
                <a:solidFill>
                  <a:srgbClr val="14211F"/>
                </a:solidFill>
                <a:latin typeface="Arial" pitchFamily="34" charset="0"/>
                <a:ea typeface="Arial" pitchFamily="34" charset="-122"/>
                <a:cs typeface="Arial" pitchFamily="34" charset="-120"/>
              </a:rPr>
              <a:t>How it works: eight agents, and who sees what</a:t>
            </a:r>
            <a:endParaRPr lang="en-US" sz="3000" dirty="0"/>
          </a:p>
        </p:txBody>
      </p:sp>
      <p:sp>
        <p:nvSpPr>
          <p:cNvPr id="3" name="Shape 1"/>
          <p:cNvSpPr/>
          <p:nvPr/>
        </p:nvSpPr>
        <p:spPr>
          <a:xfrm>
            <a:off x="548640" y="1280160"/>
            <a:ext cx="2423160" cy="2606040"/>
          </a:xfrm>
          <a:prstGeom prst="roundRect">
            <a:avLst>
              <a:gd name="adj" fmla="val 4528"/>
            </a:avLst>
          </a:prstGeom>
          <a:solidFill>
            <a:srgbClr val="FFFFFF">
              <a:alpha val="0"/>
            </a:srgbClr>
          </a:solidFill>
          <a:ln w="12700">
            <a:solidFill>
              <a:srgbClr val="C7D2CE"/>
            </a:solidFill>
            <a:prstDash val="dash"/>
          </a:ln>
        </p:spPr>
      </p:sp>
      <p:sp>
        <p:nvSpPr>
          <p:cNvPr id="4" name="Text 2"/>
          <p:cNvSpPr txBox="1"/>
          <p:nvPr/>
        </p:nvSpPr>
        <p:spPr>
          <a:xfrm>
            <a:off x="658368" y="1344168"/>
            <a:ext cx="2203704" cy="228600"/>
          </a:xfrm>
          <a:prstGeom prst="rect">
            <a:avLst/>
          </a:prstGeom>
          <a:noFill/>
          <a:ln/>
        </p:spPr>
        <p:txBody>
          <a:bodyPr wrap="square" lIns="0" tIns="0" rIns="0" bIns="0" rtlCol="0" anchor="t"/>
          <a:lstStyle/>
          <a:p>
            <a:pPr indent="0" marL="0">
              <a:buNone/>
            </a:pPr>
            <a:r>
              <a:rPr lang="en-US" sz="950" b="1" spc="100" kern="0" dirty="0">
                <a:solidFill>
                  <a:srgbClr val="56645F"/>
                </a:solidFill>
                <a:latin typeface="Arial" pitchFamily="34" charset="0"/>
                <a:ea typeface="Arial" pitchFamily="34" charset="-122"/>
                <a:cs typeface="Arial" pitchFamily="34" charset="-120"/>
              </a:rPr>
              <a:t>STAGE 1 · IN PARALLEL</a:t>
            </a:r>
            <a:endParaRPr lang="en-US" sz="950" dirty="0"/>
          </a:p>
        </p:txBody>
      </p:sp>
      <p:sp>
        <p:nvSpPr>
          <p:cNvPr id="5" name="Shape 3"/>
          <p:cNvSpPr/>
          <p:nvPr/>
        </p:nvSpPr>
        <p:spPr>
          <a:xfrm>
            <a:off x="731520" y="1645920"/>
            <a:ext cx="2103120" cy="960120"/>
          </a:xfrm>
          <a:prstGeom prst="roundRect">
            <a:avLst>
              <a:gd name="adj" fmla="val 9524"/>
            </a:avLst>
          </a:prstGeom>
          <a:solidFill>
            <a:srgbClr val="FFFFFF"/>
          </a:solidFill>
          <a:ln w="19050">
            <a:solidFill>
              <a:srgbClr val="14211F"/>
            </a:solidFill>
            <a:prstDash val="solid"/>
          </a:ln>
        </p:spPr>
      </p:sp>
      <p:sp>
        <p:nvSpPr>
          <p:cNvPr id="6" name="Shape 4"/>
          <p:cNvSpPr/>
          <p:nvPr/>
        </p:nvSpPr>
        <p:spPr>
          <a:xfrm>
            <a:off x="603504" y="1517904"/>
            <a:ext cx="329184" cy="329184"/>
          </a:xfrm>
          <a:prstGeom prst="ellipse">
            <a:avLst/>
          </a:prstGeom>
          <a:solidFill>
            <a:srgbClr val="0D6B61"/>
          </a:solidFill>
          <a:ln w="12700">
            <a:solidFill>
              <a:srgbClr val="FFFFFF"/>
            </a:solidFill>
            <a:prstDash val="solid"/>
          </a:ln>
        </p:spPr>
      </p:sp>
      <p:sp>
        <p:nvSpPr>
          <p:cNvPr id="7" name="Text 5"/>
          <p:cNvSpPr txBox="1"/>
          <p:nvPr/>
        </p:nvSpPr>
        <p:spPr>
          <a:xfrm>
            <a:off x="603504" y="15179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txBox="1"/>
          <p:nvPr/>
        </p:nvSpPr>
        <p:spPr>
          <a:xfrm>
            <a:off x="868680" y="1737360"/>
            <a:ext cx="1828800" cy="420624"/>
          </a:xfrm>
          <a:prstGeom prst="rect">
            <a:avLst/>
          </a:prstGeom>
          <a:noFill/>
          <a:ln/>
        </p:spPr>
        <p:txBody>
          <a:bodyPr wrap="square" lIns="0" tIns="0" rIns="0" bIns="0" rtlCol="0" anchor="t"/>
          <a:lstStyle/>
          <a:p>
            <a:pPr algn="ctr" indent="0" marL="0">
              <a:buNone/>
            </a:pPr>
            <a:r>
              <a:rPr lang="en-US" sz="1200" b="1" dirty="0">
                <a:solidFill>
                  <a:srgbClr val="14211F"/>
                </a:solidFill>
                <a:latin typeface="Arial" pitchFamily="34" charset="0"/>
                <a:ea typeface="Arial" pitchFamily="34" charset="-122"/>
                <a:cs typeface="Arial" pitchFamily="34" charset="-120"/>
              </a:rPr>
              <a:t>Request reviewer</a:t>
            </a:r>
            <a:endParaRPr lang="en-US" sz="1200" dirty="0"/>
          </a:p>
        </p:txBody>
      </p:sp>
      <p:sp>
        <p:nvSpPr>
          <p:cNvPr id="9" name="Text 7"/>
          <p:cNvSpPr txBox="1"/>
          <p:nvPr/>
        </p:nvSpPr>
        <p:spPr>
          <a:xfrm>
            <a:off x="822960" y="2194560"/>
            <a:ext cx="1920240" cy="374904"/>
          </a:xfrm>
          <a:prstGeom prst="rect">
            <a:avLst/>
          </a:prstGeom>
          <a:noFill/>
          <a:ln/>
        </p:spPr>
        <p:txBody>
          <a:bodyPr wrap="square" lIns="0" tIns="0" rIns="0" bIns="0" rtlCol="0" anchor="t"/>
          <a:lstStyle/>
          <a:p>
            <a:pPr algn="ctr" indent="0" marL="0">
              <a:buNone/>
            </a:pPr>
            <a:r>
              <a:rPr lang="en-US" sz="1050" dirty="0">
                <a:solidFill>
                  <a:srgbClr val="56645F"/>
                </a:solidFill>
                <a:latin typeface="Arial" pitchFamily="34" charset="0"/>
                <a:ea typeface="Arial" pitchFamily="34" charset="-122"/>
                <a:cs typeface="Arial" pitchFamily="34" charset="-120"/>
              </a:rPr>
              <a:t>checks the lead's request against the rules</a:t>
            </a:r>
            <a:endParaRPr lang="en-US" sz="1050" dirty="0"/>
          </a:p>
        </p:txBody>
      </p:sp>
      <p:sp>
        <p:nvSpPr>
          <p:cNvPr id="10" name="Shape 8"/>
          <p:cNvSpPr/>
          <p:nvPr/>
        </p:nvSpPr>
        <p:spPr>
          <a:xfrm>
            <a:off x="731520" y="2788920"/>
            <a:ext cx="2103120" cy="914400"/>
          </a:xfrm>
          <a:prstGeom prst="roundRect">
            <a:avLst>
              <a:gd name="adj" fmla="val 10000"/>
            </a:avLst>
          </a:prstGeom>
          <a:solidFill>
            <a:srgbClr val="F4F7F6"/>
          </a:solidFill>
          <a:ln w="12700">
            <a:solidFill>
              <a:srgbClr val="56645F"/>
            </a:solidFill>
            <a:prstDash val="dash"/>
          </a:ln>
        </p:spPr>
      </p:sp>
      <p:sp>
        <p:nvSpPr>
          <p:cNvPr id="11" name="Text 9"/>
          <p:cNvSpPr txBox="1"/>
          <p:nvPr/>
        </p:nvSpPr>
        <p:spPr>
          <a:xfrm>
            <a:off x="822960" y="2880360"/>
            <a:ext cx="1920240" cy="274320"/>
          </a:xfrm>
          <a:prstGeom prst="rect">
            <a:avLst/>
          </a:prstGeom>
          <a:noFill/>
          <a:ln/>
        </p:spPr>
        <p:txBody>
          <a:bodyPr wrap="square" lIns="0" tIns="0" rIns="0" bIns="0" rtlCol="0" anchor="t"/>
          <a:lstStyle/>
          <a:p>
            <a:pPr algn="ctr" indent="0" marL="0">
              <a:buNone/>
            </a:pPr>
            <a:r>
              <a:rPr lang="en-US" sz="1200" b="1" dirty="0">
                <a:solidFill>
                  <a:srgbClr val="56645F"/>
                </a:solidFill>
                <a:latin typeface="Arial" pitchFamily="34" charset="0"/>
                <a:ea typeface="Arial" pitchFamily="34" charset="-122"/>
                <a:cs typeface="Arial" pitchFamily="34" charset="-120"/>
              </a:rPr>
              <a:t>3 data lookups (code)</a:t>
            </a:r>
            <a:endParaRPr lang="en-US" sz="1200" dirty="0"/>
          </a:p>
        </p:txBody>
      </p:sp>
      <p:sp>
        <p:nvSpPr>
          <p:cNvPr id="12" name="Text 10"/>
          <p:cNvSpPr txBox="1"/>
          <p:nvPr/>
        </p:nvSpPr>
        <p:spPr>
          <a:xfrm>
            <a:off x="822960" y="3172968"/>
            <a:ext cx="1920240" cy="475488"/>
          </a:xfrm>
          <a:prstGeom prst="rect">
            <a:avLst/>
          </a:prstGeom>
          <a:noFill/>
          <a:ln/>
        </p:spPr>
        <p:txBody>
          <a:bodyPr wrap="square" lIns="0" tIns="0" rIns="0" bIns="0" rtlCol="0" anchor="t"/>
          <a:lstStyle/>
          <a:p>
            <a:pPr algn="ctr" indent="0" marL="0">
              <a:buNone/>
            </a:pPr>
            <a:r>
              <a:rPr lang="en-US" sz="1050" dirty="0">
                <a:solidFill>
                  <a:srgbClr val="56645F"/>
                </a:solidFill>
                <a:latin typeface="Arial" pitchFamily="34" charset="0"/>
                <a:ea typeface="Arial" pitchFamily="34" charset="-122"/>
                <a:cs typeface="Arial" pitchFamily="34" charset="-120"/>
              </a:rPr>
              <a:t>need · context · capacity</a:t>
            </a:r>
            <a:endParaRPr lang="en-US" sz="1050" dirty="0"/>
          </a:p>
        </p:txBody>
      </p:sp>
      <p:sp>
        <p:nvSpPr>
          <p:cNvPr id="13" name="Shape 11"/>
          <p:cNvSpPr/>
          <p:nvPr/>
        </p:nvSpPr>
        <p:spPr>
          <a:xfrm>
            <a:off x="3703320" y="2103120"/>
            <a:ext cx="1508760" cy="960120"/>
          </a:xfrm>
          <a:prstGeom prst="roundRect">
            <a:avLst>
              <a:gd name="adj" fmla="val 9524"/>
            </a:avLst>
          </a:prstGeom>
          <a:solidFill>
            <a:srgbClr val="FFFFFF"/>
          </a:solidFill>
          <a:ln w="19050">
            <a:solidFill>
              <a:srgbClr val="14211F"/>
            </a:solidFill>
            <a:prstDash val="solid"/>
          </a:ln>
        </p:spPr>
      </p:sp>
      <p:sp>
        <p:nvSpPr>
          <p:cNvPr id="14" name="Shape 12"/>
          <p:cNvSpPr/>
          <p:nvPr/>
        </p:nvSpPr>
        <p:spPr>
          <a:xfrm>
            <a:off x="3575304" y="1975104"/>
            <a:ext cx="329184" cy="329184"/>
          </a:xfrm>
          <a:prstGeom prst="ellipse">
            <a:avLst/>
          </a:prstGeom>
          <a:solidFill>
            <a:srgbClr val="0D6B61"/>
          </a:solidFill>
          <a:ln w="12700">
            <a:solidFill>
              <a:srgbClr val="FFFFFF"/>
            </a:solidFill>
            <a:prstDash val="solid"/>
          </a:ln>
        </p:spPr>
      </p:sp>
      <p:sp>
        <p:nvSpPr>
          <p:cNvPr id="15" name="Text 13"/>
          <p:cNvSpPr txBox="1"/>
          <p:nvPr/>
        </p:nvSpPr>
        <p:spPr>
          <a:xfrm>
            <a:off x="3575304" y="19751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6" name="Text 14"/>
          <p:cNvSpPr txBox="1"/>
          <p:nvPr/>
        </p:nvSpPr>
        <p:spPr>
          <a:xfrm>
            <a:off x="3840480" y="2194560"/>
            <a:ext cx="1234440" cy="274320"/>
          </a:xfrm>
          <a:prstGeom prst="rect">
            <a:avLst/>
          </a:prstGeom>
          <a:noFill/>
          <a:ln/>
        </p:spPr>
        <p:txBody>
          <a:bodyPr wrap="square" lIns="0" tIns="0" rIns="0" bIns="0" rtlCol="0" anchor="t"/>
          <a:lstStyle/>
          <a:p>
            <a:pPr algn="ctr" indent="0" marL="0">
              <a:buNone/>
            </a:pPr>
            <a:r>
              <a:rPr lang="en-US" sz="1300" b="1" dirty="0">
                <a:solidFill>
                  <a:srgbClr val="14211F"/>
                </a:solidFill>
                <a:latin typeface="Arial" pitchFamily="34" charset="0"/>
                <a:ea typeface="Arial" pitchFamily="34" charset="-122"/>
                <a:cs typeface="Arial" pitchFamily="34" charset="-120"/>
              </a:rPr>
              <a:t>Planner</a:t>
            </a:r>
            <a:endParaRPr lang="en-US" sz="1300" dirty="0"/>
          </a:p>
        </p:txBody>
      </p:sp>
      <p:sp>
        <p:nvSpPr>
          <p:cNvPr id="17" name="Text 15"/>
          <p:cNvSpPr txBox="1"/>
          <p:nvPr/>
        </p:nvSpPr>
        <p:spPr>
          <a:xfrm>
            <a:off x="3794760" y="2505456"/>
            <a:ext cx="1325880" cy="502920"/>
          </a:xfrm>
          <a:prstGeom prst="rect">
            <a:avLst/>
          </a:prstGeom>
          <a:noFill/>
          <a:ln/>
        </p:spPr>
        <p:txBody>
          <a:bodyPr wrap="square" lIns="0" tIns="0" rIns="0" bIns="0" rtlCol="0" anchor="t"/>
          <a:lstStyle/>
          <a:p>
            <a:pPr algn="ctr" indent="0" marL="0">
              <a:buNone/>
            </a:pPr>
            <a:r>
              <a:rPr lang="en-US" sz="1050" dirty="0">
                <a:solidFill>
                  <a:srgbClr val="56645F"/>
                </a:solidFill>
                <a:latin typeface="Arial" pitchFamily="34" charset="0"/>
                <a:ea typeface="Arial" pitchFamily="34" charset="-122"/>
                <a:cs typeface="Arial" pitchFamily="34" charset="-120"/>
              </a:rPr>
              <a:t>picks 4 Saturdays with our tool</a:t>
            </a:r>
            <a:endParaRPr lang="en-US" sz="1050" dirty="0"/>
          </a:p>
        </p:txBody>
      </p:sp>
      <p:sp>
        <p:nvSpPr>
          <p:cNvPr id="18" name="Shape 16"/>
          <p:cNvSpPr/>
          <p:nvPr/>
        </p:nvSpPr>
        <p:spPr>
          <a:xfrm>
            <a:off x="5623560" y="1280160"/>
            <a:ext cx="2240280" cy="2606040"/>
          </a:xfrm>
          <a:prstGeom prst="roundRect">
            <a:avLst>
              <a:gd name="adj" fmla="val 4898"/>
            </a:avLst>
          </a:prstGeom>
          <a:solidFill>
            <a:srgbClr val="FFFFFF">
              <a:alpha val="0"/>
            </a:srgbClr>
          </a:solidFill>
          <a:ln w="12700">
            <a:solidFill>
              <a:srgbClr val="C7D2CE"/>
            </a:solidFill>
            <a:prstDash val="dash"/>
          </a:ln>
        </p:spPr>
      </p:sp>
      <p:sp>
        <p:nvSpPr>
          <p:cNvPr id="19" name="Text 17"/>
          <p:cNvSpPr txBox="1"/>
          <p:nvPr/>
        </p:nvSpPr>
        <p:spPr>
          <a:xfrm>
            <a:off x="5733288" y="1344168"/>
            <a:ext cx="2020824" cy="228600"/>
          </a:xfrm>
          <a:prstGeom prst="rect">
            <a:avLst/>
          </a:prstGeom>
          <a:noFill/>
          <a:ln/>
        </p:spPr>
        <p:txBody>
          <a:bodyPr wrap="square" lIns="0" tIns="0" rIns="0" bIns="0" rtlCol="0" anchor="t"/>
          <a:lstStyle/>
          <a:p>
            <a:pPr indent="0" marL="0">
              <a:buNone/>
            </a:pPr>
            <a:r>
              <a:rPr lang="en-US" sz="950" b="1" spc="100" kern="0" dirty="0">
                <a:solidFill>
                  <a:srgbClr val="56645F"/>
                </a:solidFill>
                <a:latin typeface="Arial" pitchFamily="34" charset="0"/>
                <a:ea typeface="Arial" pitchFamily="34" charset="-122"/>
                <a:cs typeface="Arial" pitchFamily="34" charset="-120"/>
              </a:rPr>
              <a:t>LOOP · UP TO 3 ROUNDS</a:t>
            </a:r>
            <a:endParaRPr lang="en-US" sz="950" dirty="0"/>
          </a:p>
        </p:txBody>
      </p:sp>
      <p:sp>
        <p:nvSpPr>
          <p:cNvPr id="20" name="Shape 18"/>
          <p:cNvSpPr/>
          <p:nvPr/>
        </p:nvSpPr>
        <p:spPr>
          <a:xfrm>
            <a:off x="5806440" y="1645920"/>
            <a:ext cx="1920240" cy="868680"/>
          </a:xfrm>
          <a:prstGeom prst="roundRect">
            <a:avLst>
              <a:gd name="adj" fmla="val 10526"/>
            </a:avLst>
          </a:prstGeom>
          <a:solidFill>
            <a:srgbClr val="FFFFFF"/>
          </a:solidFill>
          <a:ln w="19050">
            <a:solidFill>
              <a:srgbClr val="14211F"/>
            </a:solidFill>
            <a:prstDash val="solid"/>
          </a:ln>
        </p:spPr>
      </p:sp>
      <p:sp>
        <p:nvSpPr>
          <p:cNvPr id="21" name="Shape 19"/>
          <p:cNvSpPr/>
          <p:nvPr/>
        </p:nvSpPr>
        <p:spPr>
          <a:xfrm>
            <a:off x="5678424" y="1517904"/>
            <a:ext cx="329184" cy="329184"/>
          </a:xfrm>
          <a:prstGeom prst="ellipse">
            <a:avLst/>
          </a:prstGeom>
          <a:solidFill>
            <a:srgbClr val="0D6B61"/>
          </a:solidFill>
          <a:ln w="12700">
            <a:solidFill>
              <a:srgbClr val="FFFFFF"/>
            </a:solidFill>
            <a:prstDash val="solid"/>
          </a:ln>
        </p:spPr>
      </p:sp>
      <p:sp>
        <p:nvSpPr>
          <p:cNvPr id="22" name="Text 20"/>
          <p:cNvSpPr txBox="1"/>
          <p:nvPr/>
        </p:nvSpPr>
        <p:spPr>
          <a:xfrm>
            <a:off x="5678424" y="15179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3" name="Text 21"/>
          <p:cNvSpPr txBox="1"/>
          <p:nvPr/>
        </p:nvSpPr>
        <p:spPr>
          <a:xfrm>
            <a:off x="5943600" y="1737360"/>
            <a:ext cx="1645920" cy="274320"/>
          </a:xfrm>
          <a:prstGeom prst="rect">
            <a:avLst/>
          </a:prstGeom>
          <a:noFill/>
          <a:ln/>
        </p:spPr>
        <p:txBody>
          <a:bodyPr wrap="square" lIns="0" tIns="0" rIns="0" bIns="0" rtlCol="0" anchor="t"/>
          <a:lstStyle/>
          <a:p>
            <a:pPr algn="ctr" indent="0" marL="0">
              <a:buNone/>
            </a:pPr>
            <a:r>
              <a:rPr lang="en-US" sz="1300" b="1" dirty="0">
                <a:solidFill>
                  <a:srgbClr val="14211F"/>
                </a:solidFill>
                <a:latin typeface="Arial" pitchFamily="34" charset="0"/>
                <a:ea typeface="Arial" pitchFamily="34" charset="-122"/>
                <a:cs typeface="Arial" pitchFamily="34" charset="-120"/>
              </a:rPr>
              <a:t>Reviser</a:t>
            </a:r>
            <a:endParaRPr lang="en-US" sz="1300" dirty="0"/>
          </a:p>
        </p:txBody>
      </p:sp>
      <p:sp>
        <p:nvSpPr>
          <p:cNvPr id="24" name="Text 22"/>
          <p:cNvSpPr txBox="1"/>
          <p:nvPr/>
        </p:nvSpPr>
        <p:spPr>
          <a:xfrm>
            <a:off x="5897880" y="2048256"/>
            <a:ext cx="1737360" cy="411480"/>
          </a:xfrm>
          <a:prstGeom prst="rect">
            <a:avLst/>
          </a:prstGeom>
          <a:noFill/>
          <a:ln/>
        </p:spPr>
        <p:txBody>
          <a:bodyPr wrap="square" lIns="0" tIns="0" rIns="0" bIns="0" rtlCol="0" anchor="t"/>
          <a:lstStyle/>
          <a:p>
            <a:pPr algn="ctr" indent="0" marL="0">
              <a:buNone/>
            </a:pPr>
            <a:r>
              <a:rPr lang="en-US" sz="1050" dirty="0">
                <a:solidFill>
                  <a:srgbClr val="56645F"/>
                </a:solidFill>
                <a:latin typeface="Arial" pitchFamily="34" charset="0"/>
                <a:ea typeface="Arial" pitchFamily="34" charset="-122"/>
                <a:cs typeface="Arial" pitchFamily="34" charset="-120"/>
              </a:rPr>
              <a:t>need-based fixes only</a:t>
            </a:r>
            <a:endParaRPr lang="en-US" sz="1050" dirty="0"/>
          </a:p>
        </p:txBody>
      </p:sp>
      <p:sp>
        <p:nvSpPr>
          <p:cNvPr id="25" name="Shape 23"/>
          <p:cNvSpPr/>
          <p:nvPr/>
        </p:nvSpPr>
        <p:spPr>
          <a:xfrm>
            <a:off x="5806440" y="2834640"/>
            <a:ext cx="1920240" cy="914400"/>
          </a:xfrm>
          <a:prstGeom prst="roundRect">
            <a:avLst>
              <a:gd name="adj" fmla="val 10000"/>
            </a:avLst>
          </a:prstGeom>
          <a:solidFill>
            <a:srgbClr val="F5E9F1"/>
          </a:solidFill>
          <a:ln w="19050">
            <a:solidFill>
              <a:srgbClr val="84376F"/>
            </a:solidFill>
            <a:prstDash val="solid"/>
          </a:ln>
        </p:spPr>
      </p:sp>
      <p:sp>
        <p:nvSpPr>
          <p:cNvPr id="26" name="Shape 24"/>
          <p:cNvSpPr/>
          <p:nvPr/>
        </p:nvSpPr>
        <p:spPr>
          <a:xfrm>
            <a:off x="5678424" y="2706624"/>
            <a:ext cx="329184" cy="329184"/>
          </a:xfrm>
          <a:prstGeom prst="ellipse">
            <a:avLst/>
          </a:prstGeom>
          <a:solidFill>
            <a:srgbClr val="84376F"/>
          </a:solidFill>
          <a:ln w="12700">
            <a:solidFill>
              <a:srgbClr val="FFFFFF"/>
            </a:solidFill>
            <a:prstDash val="solid"/>
          </a:ln>
        </p:spPr>
      </p:sp>
      <p:sp>
        <p:nvSpPr>
          <p:cNvPr id="27" name="Text 25"/>
          <p:cNvSpPr txBox="1"/>
          <p:nvPr/>
        </p:nvSpPr>
        <p:spPr>
          <a:xfrm>
            <a:off x="5678424" y="27066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8" name="Text 26"/>
          <p:cNvSpPr txBox="1"/>
          <p:nvPr/>
        </p:nvSpPr>
        <p:spPr>
          <a:xfrm>
            <a:off x="5943600" y="2926080"/>
            <a:ext cx="1645920" cy="274320"/>
          </a:xfrm>
          <a:prstGeom prst="rect">
            <a:avLst/>
          </a:prstGeom>
          <a:noFill/>
          <a:ln/>
        </p:spPr>
        <p:txBody>
          <a:bodyPr wrap="square" lIns="0" tIns="0" rIns="0" bIns="0" rtlCol="0" anchor="t"/>
          <a:lstStyle/>
          <a:p>
            <a:pPr algn="ctr" indent="0" marL="0">
              <a:buNone/>
            </a:pPr>
            <a:r>
              <a:rPr lang="en-US" sz="1300" b="1" dirty="0">
                <a:solidFill>
                  <a:srgbClr val="14211F"/>
                </a:solidFill>
                <a:latin typeface="Arial" pitchFamily="34" charset="0"/>
                <a:ea typeface="Arial" pitchFamily="34" charset="-122"/>
                <a:cs typeface="Arial" pitchFamily="34" charset="-120"/>
              </a:rPr>
              <a:t>Auditor</a:t>
            </a:r>
            <a:endParaRPr lang="en-US" sz="1300" dirty="0"/>
          </a:p>
        </p:txBody>
      </p:sp>
      <p:sp>
        <p:nvSpPr>
          <p:cNvPr id="29" name="Text 27"/>
          <p:cNvSpPr txBox="1"/>
          <p:nvPr/>
        </p:nvSpPr>
        <p:spPr>
          <a:xfrm>
            <a:off x="5897880" y="3236976"/>
            <a:ext cx="1737360" cy="457200"/>
          </a:xfrm>
          <a:prstGeom prst="rect">
            <a:avLst/>
          </a:prstGeom>
          <a:noFill/>
          <a:ln/>
        </p:spPr>
        <p:txBody>
          <a:bodyPr wrap="square" lIns="0" tIns="0" rIns="0" bIns="0" rtlCol="0" anchor="t"/>
          <a:lstStyle/>
          <a:p>
            <a:pPr algn="ctr" indent="0" marL="0">
              <a:buNone/>
            </a:pPr>
            <a:r>
              <a:rPr lang="en-US" sz="1050" dirty="0">
                <a:solidFill>
                  <a:srgbClr val="56645F"/>
                </a:solidFill>
                <a:latin typeface="Arial" pitchFamily="34" charset="0"/>
                <a:ea typeface="Arial" pitchFamily="34" charset="-122"/>
                <a:cs typeface="Arial" pitchFamily="34" charset="-120"/>
              </a:rPr>
              <a:t>equity + evidence: PASS or REVISE</a:t>
            </a:r>
            <a:endParaRPr lang="en-US" sz="1050" dirty="0"/>
          </a:p>
        </p:txBody>
      </p:sp>
      <p:sp>
        <p:nvSpPr>
          <p:cNvPr id="30" name="Shape 28"/>
          <p:cNvSpPr/>
          <p:nvPr/>
        </p:nvSpPr>
        <p:spPr>
          <a:xfrm>
            <a:off x="8275320" y="1280160"/>
            <a:ext cx="2194560" cy="2606040"/>
          </a:xfrm>
          <a:prstGeom prst="roundRect">
            <a:avLst>
              <a:gd name="adj" fmla="val 5000"/>
            </a:avLst>
          </a:prstGeom>
          <a:solidFill>
            <a:srgbClr val="FFFFFF">
              <a:alpha val="0"/>
            </a:srgbClr>
          </a:solidFill>
          <a:ln w="12700">
            <a:solidFill>
              <a:srgbClr val="C7D2CE"/>
            </a:solidFill>
            <a:prstDash val="dash"/>
          </a:ln>
        </p:spPr>
      </p:sp>
      <p:sp>
        <p:nvSpPr>
          <p:cNvPr id="31" name="Text 29"/>
          <p:cNvSpPr txBox="1"/>
          <p:nvPr/>
        </p:nvSpPr>
        <p:spPr>
          <a:xfrm>
            <a:off x="8385048" y="1344168"/>
            <a:ext cx="1975104" cy="228600"/>
          </a:xfrm>
          <a:prstGeom prst="rect">
            <a:avLst/>
          </a:prstGeom>
          <a:noFill/>
          <a:ln/>
        </p:spPr>
        <p:txBody>
          <a:bodyPr wrap="square" lIns="0" tIns="0" rIns="0" bIns="0" rtlCol="0" anchor="t"/>
          <a:lstStyle/>
          <a:p>
            <a:pPr indent="0" marL="0">
              <a:buNone/>
            </a:pPr>
            <a:r>
              <a:rPr lang="en-US" sz="950" b="1" spc="100" kern="0" dirty="0">
                <a:solidFill>
                  <a:srgbClr val="56645F"/>
                </a:solidFill>
                <a:latin typeface="Arial" pitchFamily="34" charset="0"/>
                <a:ea typeface="Arial" pitchFamily="34" charset="-122"/>
                <a:cs typeface="Arial" pitchFamily="34" charset="-120"/>
              </a:rPr>
              <a:t>STAGE 3 · IN PARALLEL</a:t>
            </a:r>
            <a:endParaRPr lang="en-US" sz="950" dirty="0"/>
          </a:p>
        </p:txBody>
      </p:sp>
      <p:sp>
        <p:nvSpPr>
          <p:cNvPr id="32" name="Shape 30"/>
          <p:cNvSpPr/>
          <p:nvPr/>
        </p:nvSpPr>
        <p:spPr>
          <a:xfrm>
            <a:off x="8458200" y="1645920"/>
            <a:ext cx="1874520" cy="868680"/>
          </a:xfrm>
          <a:prstGeom prst="roundRect">
            <a:avLst>
              <a:gd name="adj" fmla="val 10526"/>
            </a:avLst>
          </a:prstGeom>
          <a:solidFill>
            <a:srgbClr val="FFFFFF"/>
          </a:solidFill>
          <a:ln w="19050">
            <a:solidFill>
              <a:srgbClr val="14211F"/>
            </a:solidFill>
            <a:prstDash val="solid"/>
          </a:ln>
        </p:spPr>
      </p:sp>
      <p:sp>
        <p:nvSpPr>
          <p:cNvPr id="33" name="Shape 31"/>
          <p:cNvSpPr/>
          <p:nvPr/>
        </p:nvSpPr>
        <p:spPr>
          <a:xfrm>
            <a:off x="8330184" y="1517904"/>
            <a:ext cx="329184" cy="329184"/>
          </a:xfrm>
          <a:prstGeom prst="ellipse">
            <a:avLst/>
          </a:prstGeom>
          <a:solidFill>
            <a:srgbClr val="0D6B61"/>
          </a:solidFill>
          <a:ln w="12700">
            <a:solidFill>
              <a:srgbClr val="FFFFFF"/>
            </a:solidFill>
            <a:prstDash val="solid"/>
          </a:ln>
        </p:spPr>
      </p:sp>
      <p:sp>
        <p:nvSpPr>
          <p:cNvPr id="34" name="Text 32"/>
          <p:cNvSpPr txBox="1"/>
          <p:nvPr/>
        </p:nvSpPr>
        <p:spPr>
          <a:xfrm>
            <a:off x="8330184" y="15179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5" name="Text 33"/>
          <p:cNvSpPr txBox="1"/>
          <p:nvPr/>
        </p:nvSpPr>
        <p:spPr>
          <a:xfrm>
            <a:off x="8595360" y="1737360"/>
            <a:ext cx="1600200" cy="274320"/>
          </a:xfrm>
          <a:prstGeom prst="rect">
            <a:avLst/>
          </a:prstGeom>
          <a:noFill/>
          <a:ln/>
        </p:spPr>
        <p:txBody>
          <a:bodyPr wrap="square" lIns="0" tIns="0" rIns="0" bIns="0" rtlCol="0" anchor="t"/>
          <a:lstStyle/>
          <a:p>
            <a:pPr algn="ctr" indent="0" marL="0">
              <a:buNone/>
            </a:pPr>
            <a:r>
              <a:rPr lang="en-US" sz="1300" b="1" dirty="0">
                <a:solidFill>
                  <a:srgbClr val="14211F"/>
                </a:solidFill>
                <a:latin typeface="Arial" pitchFamily="34" charset="0"/>
                <a:ea typeface="Arial" pitchFamily="34" charset="-122"/>
                <a:cs typeface="Arial" pitchFamily="34" charset="-120"/>
              </a:rPr>
              <a:t>Explainer</a:t>
            </a:r>
            <a:endParaRPr lang="en-US" sz="1300" dirty="0"/>
          </a:p>
        </p:txBody>
      </p:sp>
      <p:sp>
        <p:nvSpPr>
          <p:cNvPr id="36" name="Text 34"/>
          <p:cNvSpPr txBox="1"/>
          <p:nvPr/>
        </p:nvSpPr>
        <p:spPr>
          <a:xfrm>
            <a:off x="8549640" y="2048256"/>
            <a:ext cx="1691640" cy="411480"/>
          </a:xfrm>
          <a:prstGeom prst="rect">
            <a:avLst/>
          </a:prstGeom>
          <a:noFill/>
          <a:ln/>
        </p:spPr>
        <p:txBody>
          <a:bodyPr wrap="square" lIns="0" tIns="0" rIns="0" bIns="0" rtlCol="0" anchor="t"/>
          <a:lstStyle/>
          <a:p>
            <a:pPr algn="ctr" indent="0" marL="0">
              <a:buNone/>
            </a:pPr>
            <a:r>
              <a:rPr lang="en-US" sz="1050" dirty="0">
                <a:solidFill>
                  <a:srgbClr val="56645F"/>
                </a:solidFill>
                <a:latin typeface="Arial" pitchFamily="34" charset="0"/>
                <a:ea typeface="Arial" pitchFamily="34" charset="-122"/>
                <a:cs typeface="Arial" pitchFamily="34" charset="-120"/>
              </a:rPr>
              <a:t>bilingual flyer for neighbors</a:t>
            </a:r>
            <a:endParaRPr lang="en-US" sz="1050" dirty="0"/>
          </a:p>
        </p:txBody>
      </p:sp>
      <p:sp>
        <p:nvSpPr>
          <p:cNvPr id="37" name="Shape 35"/>
          <p:cNvSpPr/>
          <p:nvPr/>
        </p:nvSpPr>
        <p:spPr>
          <a:xfrm>
            <a:off x="8458200" y="2788920"/>
            <a:ext cx="1874520" cy="1005840"/>
          </a:xfrm>
          <a:prstGeom prst="roundRect">
            <a:avLst>
              <a:gd name="adj" fmla="val 9091"/>
            </a:avLst>
          </a:prstGeom>
          <a:solidFill>
            <a:srgbClr val="FFFFFF"/>
          </a:solidFill>
          <a:ln w="19050">
            <a:solidFill>
              <a:srgbClr val="14211F"/>
            </a:solidFill>
            <a:prstDash val="solid"/>
          </a:ln>
        </p:spPr>
      </p:sp>
      <p:sp>
        <p:nvSpPr>
          <p:cNvPr id="38" name="Shape 36"/>
          <p:cNvSpPr/>
          <p:nvPr/>
        </p:nvSpPr>
        <p:spPr>
          <a:xfrm>
            <a:off x="8330184" y="2660904"/>
            <a:ext cx="329184" cy="329184"/>
          </a:xfrm>
          <a:prstGeom prst="ellipse">
            <a:avLst/>
          </a:prstGeom>
          <a:solidFill>
            <a:srgbClr val="0D6B61"/>
          </a:solidFill>
          <a:ln w="12700">
            <a:solidFill>
              <a:srgbClr val="FFFFFF"/>
            </a:solidFill>
            <a:prstDash val="solid"/>
          </a:ln>
        </p:spPr>
      </p:sp>
      <p:sp>
        <p:nvSpPr>
          <p:cNvPr id="39" name="Text 37"/>
          <p:cNvSpPr txBox="1"/>
          <p:nvPr/>
        </p:nvSpPr>
        <p:spPr>
          <a:xfrm>
            <a:off x="8330184" y="26609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40" name="Text 38"/>
          <p:cNvSpPr txBox="1"/>
          <p:nvPr/>
        </p:nvSpPr>
        <p:spPr>
          <a:xfrm>
            <a:off x="8595360" y="2880360"/>
            <a:ext cx="1600200" cy="420624"/>
          </a:xfrm>
          <a:prstGeom prst="rect">
            <a:avLst/>
          </a:prstGeom>
          <a:noFill/>
          <a:ln/>
        </p:spPr>
        <p:txBody>
          <a:bodyPr wrap="square" lIns="0" tIns="0" rIns="0" bIns="0" rtlCol="0" anchor="t"/>
          <a:lstStyle/>
          <a:p>
            <a:pPr algn="ctr" indent="0" marL="0">
              <a:buNone/>
            </a:pPr>
            <a:r>
              <a:rPr lang="en-US" sz="1200" b="1" dirty="0">
                <a:solidFill>
                  <a:srgbClr val="14211F"/>
                </a:solidFill>
                <a:latin typeface="Arial" pitchFamily="34" charset="0"/>
                <a:ea typeface="Arial" pitchFamily="34" charset="-122"/>
                <a:cs typeface="Arial" pitchFamily="34" charset="-120"/>
              </a:rPr>
              <a:t>Accountability writer</a:t>
            </a:r>
            <a:endParaRPr lang="en-US" sz="1200" dirty="0"/>
          </a:p>
        </p:txBody>
      </p:sp>
      <p:sp>
        <p:nvSpPr>
          <p:cNvPr id="41" name="Text 39"/>
          <p:cNvSpPr txBox="1"/>
          <p:nvPr/>
        </p:nvSpPr>
        <p:spPr>
          <a:xfrm>
            <a:off x="8549640" y="3337560"/>
            <a:ext cx="1691640" cy="420624"/>
          </a:xfrm>
          <a:prstGeom prst="rect">
            <a:avLst/>
          </a:prstGeom>
          <a:noFill/>
          <a:ln/>
        </p:spPr>
        <p:txBody>
          <a:bodyPr wrap="square" lIns="0" tIns="0" rIns="0" bIns="0" rtlCol="0" anchor="t"/>
          <a:lstStyle/>
          <a:p>
            <a:pPr algn="ctr" indent="0" marL="0">
              <a:buNone/>
            </a:pPr>
            <a:r>
              <a:rPr lang="en-US" sz="1050" dirty="0">
                <a:solidFill>
                  <a:srgbClr val="56645F"/>
                </a:solidFill>
                <a:latin typeface="Arial" pitchFamily="34" charset="0"/>
                <a:ea typeface="Arial" pitchFamily="34" charset="-122"/>
                <a:cs typeface="Arial" pitchFamily="34" charset="-120"/>
              </a:rPr>
              <a:t>statement for the funder</a:t>
            </a:r>
            <a:endParaRPr lang="en-US" sz="1050" dirty="0"/>
          </a:p>
        </p:txBody>
      </p:sp>
      <p:sp>
        <p:nvSpPr>
          <p:cNvPr id="42" name="Shape 40"/>
          <p:cNvSpPr/>
          <p:nvPr/>
        </p:nvSpPr>
        <p:spPr>
          <a:xfrm>
            <a:off x="10789920" y="2103120"/>
            <a:ext cx="868680" cy="960120"/>
          </a:xfrm>
          <a:prstGeom prst="roundRect">
            <a:avLst>
              <a:gd name="adj" fmla="val 10526"/>
            </a:avLst>
          </a:prstGeom>
          <a:solidFill>
            <a:srgbClr val="F4F7F6"/>
          </a:solidFill>
          <a:ln w="12700">
            <a:solidFill>
              <a:srgbClr val="56645F"/>
            </a:solidFill>
            <a:prstDash val="dash"/>
          </a:ln>
        </p:spPr>
      </p:sp>
      <p:sp>
        <p:nvSpPr>
          <p:cNvPr id="43" name="Text 41"/>
          <p:cNvSpPr txBox="1"/>
          <p:nvPr/>
        </p:nvSpPr>
        <p:spPr>
          <a:xfrm>
            <a:off x="10881360" y="2194560"/>
            <a:ext cx="685800" cy="274320"/>
          </a:xfrm>
          <a:prstGeom prst="rect">
            <a:avLst/>
          </a:prstGeom>
          <a:noFill/>
          <a:ln/>
        </p:spPr>
        <p:txBody>
          <a:bodyPr wrap="square" lIns="0" tIns="0" rIns="0" bIns="0" rtlCol="0" anchor="t"/>
          <a:lstStyle/>
          <a:p>
            <a:pPr algn="ctr" indent="0" marL="0">
              <a:buNone/>
            </a:pPr>
            <a:r>
              <a:rPr lang="en-US" sz="1200" b="1" dirty="0">
                <a:solidFill>
                  <a:srgbClr val="56645F"/>
                </a:solidFill>
                <a:latin typeface="Arial" pitchFamily="34" charset="0"/>
                <a:ea typeface="Arial" pitchFamily="34" charset="-122"/>
                <a:cs typeface="Arial" pitchFamily="34" charset="-120"/>
              </a:rPr>
              <a:t>Report</a:t>
            </a:r>
            <a:endParaRPr lang="en-US" sz="1200" dirty="0"/>
          </a:p>
        </p:txBody>
      </p:sp>
      <p:sp>
        <p:nvSpPr>
          <p:cNvPr id="44" name="Text 42"/>
          <p:cNvSpPr txBox="1"/>
          <p:nvPr/>
        </p:nvSpPr>
        <p:spPr>
          <a:xfrm>
            <a:off x="10881360" y="2487168"/>
            <a:ext cx="685800" cy="521208"/>
          </a:xfrm>
          <a:prstGeom prst="rect">
            <a:avLst/>
          </a:prstGeom>
          <a:noFill/>
          <a:ln/>
        </p:spPr>
        <p:txBody>
          <a:bodyPr wrap="square" lIns="0" tIns="0" rIns="0" bIns="0" rtlCol="0" anchor="t"/>
          <a:lstStyle/>
          <a:p>
            <a:pPr algn="ctr" indent="0" marL="0">
              <a:buNone/>
            </a:pPr>
            <a:r>
              <a:rPr lang="en-US" sz="1050" dirty="0">
                <a:solidFill>
                  <a:srgbClr val="56645F"/>
                </a:solidFill>
                <a:latin typeface="Arial" pitchFamily="34" charset="0"/>
                <a:ea typeface="Arial" pitchFamily="34" charset="-122"/>
                <a:cs typeface="Arial" pitchFamily="34" charset="-120"/>
              </a:rPr>
              <a:t>plan, flyer, statement</a:t>
            </a:r>
            <a:endParaRPr lang="en-US" sz="1050" dirty="0"/>
          </a:p>
        </p:txBody>
      </p:sp>
      <p:sp>
        <p:nvSpPr>
          <p:cNvPr id="45" name="Shape 43"/>
          <p:cNvSpPr/>
          <p:nvPr/>
        </p:nvSpPr>
        <p:spPr>
          <a:xfrm>
            <a:off x="2971800" y="2578608"/>
            <a:ext cx="731520" cy="914"/>
          </a:xfrm>
          <a:prstGeom prst="line">
            <a:avLst/>
          </a:prstGeom>
          <a:noFill/>
          <a:ln w="19050">
            <a:solidFill>
              <a:srgbClr val="56645F"/>
            </a:solidFill>
            <a:prstDash val="solid"/>
            <a:tailEnd type="triangle"/>
          </a:ln>
        </p:spPr>
      </p:sp>
      <p:sp>
        <p:nvSpPr>
          <p:cNvPr id="46" name="Text 44"/>
          <p:cNvSpPr txBox="1"/>
          <p:nvPr/>
        </p:nvSpPr>
        <p:spPr>
          <a:xfrm>
            <a:off x="2926080" y="2286000"/>
            <a:ext cx="777240" cy="237744"/>
          </a:xfrm>
          <a:prstGeom prst="rect">
            <a:avLst/>
          </a:prstGeom>
          <a:noFill/>
          <a:ln/>
        </p:spPr>
        <p:txBody>
          <a:bodyPr wrap="square" lIns="0" tIns="0" rIns="0" bIns="0" rtlCol="0" anchor="t"/>
          <a:lstStyle/>
          <a:p>
            <a:pPr algn="ctr" indent="0" marL="0">
              <a:buNone/>
            </a:pPr>
            <a:r>
              <a:rPr lang="en-US" sz="850" b="1" dirty="0">
                <a:solidFill>
                  <a:srgbClr val="0D6B61"/>
                </a:solidFill>
                <a:latin typeface="Arial" pitchFamily="34" charset="0"/>
                <a:ea typeface="Arial" pitchFamily="34" charset="-122"/>
                <a:cs typeface="Arial" pitchFamily="34" charset="-120"/>
              </a:rPr>
              <a:t>request_review</a:t>
            </a:r>
            <a:endParaRPr lang="en-US" sz="850" dirty="0"/>
          </a:p>
        </p:txBody>
      </p:sp>
      <p:sp>
        <p:nvSpPr>
          <p:cNvPr id="47" name="Shape 45"/>
          <p:cNvSpPr/>
          <p:nvPr/>
        </p:nvSpPr>
        <p:spPr>
          <a:xfrm>
            <a:off x="5212080" y="2697480"/>
            <a:ext cx="594360" cy="457200"/>
          </a:xfrm>
          <a:prstGeom prst="line">
            <a:avLst/>
          </a:prstGeom>
          <a:noFill/>
          <a:ln w="19050">
            <a:solidFill>
              <a:srgbClr val="56645F"/>
            </a:solidFill>
            <a:prstDash val="solid"/>
            <a:tailEnd type="triangle"/>
          </a:ln>
        </p:spPr>
      </p:sp>
      <p:sp>
        <p:nvSpPr>
          <p:cNvPr id="48" name="Text 46"/>
          <p:cNvSpPr txBox="1"/>
          <p:nvPr/>
        </p:nvSpPr>
        <p:spPr>
          <a:xfrm>
            <a:off x="4937760" y="3200400"/>
            <a:ext cx="868680" cy="237744"/>
          </a:xfrm>
          <a:prstGeom prst="rect">
            <a:avLst/>
          </a:prstGeom>
          <a:noFill/>
          <a:ln/>
        </p:spPr>
        <p:txBody>
          <a:bodyPr wrap="square" lIns="0" tIns="0" rIns="0" bIns="0" rtlCol="0" anchor="t"/>
          <a:lstStyle/>
          <a:p>
            <a:pPr algn="ctr" indent="0" marL="0">
              <a:buNone/>
            </a:pPr>
            <a:r>
              <a:rPr lang="en-US" sz="950" b="1" dirty="0">
                <a:solidFill>
                  <a:srgbClr val="0D6B61"/>
                </a:solidFill>
                <a:latin typeface="Arial" pitchFamily="34" charset="0"/>
                <a:ea typeface="Arial" pitchFamily="34" charset="-122"/>
                <a:cs typeface="Arial" pitchFamily="34" charset="-120"/>
              </a:rPr>
              <a:t>plan_stops</a:t>
            </a:r>
            <a:endParaRPr lang="en-US" sz="950" dirty="0"/>
          </a:p>
        </p:txBody>
      </p:sp>
      <p:sp>
        <p:nvSpPr>
          <p:cNvPr id="49" name="Shape 47"/>
          <p:cNvSpPr/>
          <p:nvPr/>
        </p:nvSpPr>
        <p:spPr>
          <a:xfrm flipV="1">
            <a:off x="6172200" y="2514600"/>
            <a:ext cx="914" cy="320040"/>
          </a:xfrm>
          <a:prstGeom prst="line">
            <a:avLst/>
          </a:prstGeom>
          <a:noFill/>
          <a:ln w="19050">
            <a:solidFill>
              <a:srgbClr val="9A5200"/>
            </a:solidFill>
            <a:prstDash val="solid"/>
            <a:tailEnd type="triangle"/>
          </a:ln>
        </p:spPr>
      </p:sp>
      <p:sp>
        <p:nvSpPr>
          <p:cNvPr id="50" name="Text 48"/>
          <p:cNvSpPr txBox="1"/>
          <p:nvPr/>
        </p:nvSpPr>
        <p:spPr>
          <a:xfrm>
            <a:off x="6236208" y="2560320"/>
            <a:ext cx="1554480" cy="228600"/>
          </a:xfrm>
          <a:prstGeom prst="rect">
            <a:avLst/>
          </a:prstGeom>
          <a:noFill/>
          <a:ln/>
        </p:spPr>
        <p:txBody>
          <a:bodyPr wrap="square" lIns="0" tIns="0" rIns="0" bIns="0" rtlCol="0" anchor="t"/>
          <a:lstStyle/>
          <a:p>
            <a:pPr indent="0" marL="0">
              <a:buNone/>
            </a:pPr>
            <a:r>
              <a:rPr lang="en-US" sz="900" b="1" dirty="0">
                <a:solidFill>
                  <a:srgbClr val="9A5200"/>
                </a:solidFill>
                <a:latin typeface="Arial" pitchFamily="34" charset="0"/>
                <a:ea typeface="Arial" pitchFamily="34" charset="-122"/>
                <a:cs typeface="Arial" pitchFamily="34" charset="-120"/>
              </a:rPr>
              <a:t>REVISE · audit_report</a:t>
            </a:r>
            <a:endParaRPr lang="en-US" sz="900" dirty="0"/>
          </a:p>
        </p:txBody>
      </p:sp>
      <p:sp>
        <p:nvSpPr>
          <p:cNvPr id="51" name="Shape 49"/>
          <p:cNvSpPr/>
          <p:nvPr/>
        </p:nvSpPr>
        <p:spPr>
          <a:xfrm>
            <a:off x="7452360" y="2514600"/>
            <a:ext cx="914" cy="320040"/>
          </a:xfrm>
          <a:prstGeom prst="line">
            <a:avLst/>
          </a:prstGeom>
          <a:noFill/>
          <a:ln w="19050">
            <a:solidFill>
              <a:srgbClr val="56645F"/>
            </a:solidFill>
            <a:prstDash val="solid"/>
            <a:tailEnd type="triangle"/>
          </a:ln>
        </p:spPr>
      </p:sp>
      <p:sp>
        <p:nvSpPr>
          <p:cNvPr id="52" name="Shape 50"/>
          <p:cNvSpPr/>
          <p:nvPr/>
        </p:nvSpPr>
        <p:spPr>
          <a:xfrm>
            <a:off x="7726680" y="3291840"/>
            <a:ext cx="548640" cy="914"/>
          </a:xfrm>
          <a:prstGeom prst="line">
            <a:avLst/>
          </a:prstGeom>
          <a:noFill/>
          <a:ln w="19050">
            <a:solidFill>
              <a:srgbClr val="0D6B61"/>
            </a:solidFill>
            <a:prstDash val="solid"/>
            <a:tailEnd type="triangle"/>
          </a:ln>
        </p:spPr>
      </p:sp>
      <p:sp>
        <p:nvSpPr>
          <p:cNvPr id="53" name="Text 51"/>
          <p:cNvSpPr txBox="1"/>
          <p:nvPr/>
        </p:nvSpPr>
        <p:spPr>
          <a:xfrm>
            <a:off x="7726680" y="3364992"/>
            <a:ext cx="548640" cy="237744"/>
          </a:xfrm>
          <a:prstGeom prst="rect">
            <a:avLst/>
          </a:prstGeom>
          <a:noFill/>
          <a:ln/>
        </p:spPr>
        <p:txBody>
          <a:bodyPr wrap="square" lIns="0" tIns="0" rIns="0" bIns="0" rtlCol="0" anchor="t"/>
          <a:lstStyle/>
          <a:p>
            <a:pPr algn="ctr" indent="0" marL="0">
              <a:buNone/>
            </a:pPr>
            <a:r>
              <a:rPr lang="en-US" sz="950" b="1" dirty="0">
                <a:solidFill>
                  <a:srgbClr val="0D6B61"/>
                </a:solidFill>
                <a:latin typeface="Arial" pitchFamily="34" charset="0"/>
                <a:ea typeface="Arial" pitchFamily="34" charset="-122"/>
                <a:cs typeface="Arial" pitchFamily="34" charset="-120"/>
              </a:rPr>
              <a:t>PASS</a:t>
            </a:r>
            <a:endParaRPr lang="en-US" sz="950" dirty="0"/>
          </a:p>
        </p:txBody>
      </p:sp>
      <p:sp>
        <p:nvSpPr>
          <p:cNvPr id="54" name="Shape 52"/>
          <p:cNvSpPr/>
          <p:nvPr/>
        </p:nvSpPr>
        <p:spPr>
          <a:xfrm>
            <a:off x="10469880" y="2578608"/>
            <a:ext cx="320040" cy="914"/>
          </a:xfrm>
          <a:prstGeom prst="line">
            <a:avLst/>
          </a:prstGeom>
          <a:noFill/>
          <a:ln w="19050">
            <a:solidFill>
              <a:srgbClr val="56645F"/>
            </a:solidFill>
            <a:prstDash val="solid"/>
            <a:tailEnd type="triangle"/>
          </a:ln>
        </p:spPr>
      </p:sp>
      <p:sp>
        <p:nvSpPr>
          <p:cNvPr id="55" name="Shape 53"/>
          <p:cNvSpPr/>
          <p:nvPr/>
        </p:nvSpPr>
        <p:spPr>
          <a:xfrm>
            <a:off x="548640" y="4206240"/>
            <a:ext cx="4617720" cy="822960"/>
          </a:xfrm>
          <a:prstGeom prst="roundRect">
            <a:avLst>
              <a:gd name="adj" fmla="val 11111"/>
            </a:avLst>
          </a:prstGeom>
          <a:solidFill>
            <a:srgbClr val="F4F7F6"/>
          </a:solidFill>
          <a:ln w="12700">
            <a:solidFill>
              <a:srgbClr val="C7D2CE"/>
            </a:solidFill>
            <a:prstDash val="solid"/>
          </a:ln>
        </p:spPr>
      </p:sp>
      <p:sp>
        <p:nvSpPr>
          <p:cNvPr id="56" name="Text 54"/>
          <p:cNvSpPr txBox="1"/>
          <p:nvPr/>
        </p:nvSpPr>
        <p:spPr>
          <a:xfrm>
            <a:off x="731520" y="4297680"/>
            <a:ext cx="4297680" cy="685800"/>
          </a:xfrm>
          <a:prstGeom prst="rect">
            <a:avLst/>
          </a:prstGeom>
          <a:noFill/>
          <a:ln/>
        </p:spPr>
        <p:txBody>
          <a:bodyPr wrap="square" lIns="0" tIns="0" rIns="0" bIns="0" rtlCol="0" anchor="t"/>
          <a:lstStyle/>
          <a:p>
            <a:pPr indent="0" marL="0">
              <a:buNone/>
            </a:pPr>
            <a:r>
              <a:rPr lang="en-US" sz="1300" b="1" dirty="0">
                <a:solidFill>
                  <a:srgbClr val="14211F"/>
                </a:solidFill>
                <a:latin typeface="Arial" pitchFamily="34" charset="0"/>
                <a:ea typeface="Arial" pitchFamily="34" charset="-122"/>
                <a:cs typeface="Arial" pitchFamily="34" charset="-120"/>
              </a:rPr>
              <a:t>BigQuery · a4i_health</a:t>
            </a:r>
            <a:endParaRPr lang="en-US" sz="1300" dirty="0"/>
          </a:p>
          <a:p>
            <a:pPr indent="0" marL="0">
              <a:buNone/>
            </a:pPr>
            <a:r>
              <a:rPr lang="en-US" sz="1100" dirty="0">
                <a:solidFill>
                  <a:srgbClr val="56645F"/>
                </a:solidFill>
                <a:latin typeface="Arial" pitchFamily="34" charset="0"/>
                <a:ea typeface="Arial" pitchFamily="34" charset="-122"/>
                <a:cs typeface="Arial" pitchFamily="34" charset="-120"/>
              </a:rPr>
              <a:t>challenge tables · no race or ethnicity</a:t>
            </a:r>
            <a:endParaRPr lang="en-US" sz="1300" dirty="0"/>
          </a:p>
        </p:txBody>
      </p:sp>
      <p:sp>
        <p:nvSpPr>
          <p:cNvPr id="57" name="Shape 55"/>
          <p:cNvSpPr/>
          <p:nvPr/>
        </p:nvSpPr>
        <p:spPr>
          <a:xfrm>
            <a:off x="1783080" y="3703320"/>
            <a:ext cx="914" cy="502920"/>
          </a:xfrm>
          <a:prstGeom prst="line">
            <a:avLst/>
          </a:prstGeom>
          <a:noFill/>
          <a:ln w="19050">
            <a:solidFill>
              <a:srgbClr val="56645F"/>
            </a:solidFill>
            <a:prstDash val="solid"/>
            <a:tailEnd type="triangle"/>
          </a:ln>
        </p:spPr>
      </p:sp>
      <p:sp>
        <p:nvSpPr>
          <p:cNvPr id="58" name="Shape 56"/>
          <p:cNvSpPr/>
          <p:nvPr/>
        </p:nvSpPr>
        <p:spPr>
          <a:xfrm>
            <a:off x="4453128" y="3063240"/>
            <a:ext cx="914" cy="1143000"/>
          </a:xfrm>
          <a:prstGeom prst="line">
            <a:avLst/>
          </a:prstGeom>
          <a:noFill/>
          <a:ln w="19050">
            <a:solidFill>
              <a:srgbClr val="56645F"/>
            </a:solidFill>
            <a:prstDash val="solid"/>
            <a:tailEnd type="triangle"/>
          </a:ln>
        </p:spPr>
      </p:sp>
      <p:sp>
        <p:nvSpPr>
          <p:cNvPr id="59" name="Shape 57"/>
          <p:cNvSpPr/>
          <p:nvPr/>
        </p:nvSpPr>
        <p:spPr>
          <a:xfrm>
            <a:off x="5623560" y="4069080"/>
            <a:ext cx="2240280" cy="1463040"/>
          </a:xfrm>
          <a:prstGeom prst="roundRect">
            <a:avLst>
              <a:gd name="adj" fmla="val 7500"/>
            </a:avLst>
          </a:prstGeom>
          <a:solidFill>
            <a:srgbClr val="F5E9F1"/>
          </a:solidFill>
          <a:ln w="12700">
            <a:solidFill>
              <a:srgbClr val="84376F"/>
            </a:solidFill>
            <a:prstDash val="dash"/>
          </a:ln>
        </p:spPr>
      </p:sp>
      <p:sp>
        <p:nvSpPr>
          <p:cNvPr id="60" name="Text 58"/>
          <p:cNvSpPr txBox="1"/>
          <p:nvPr/>
        </p:nvSpPr>
        <p:spPr>
          <a:xfrm>
            <a:off x="5733288" y="4133088"/>
            <a:ext cx="2020824" cy="228600"/>
          </a:xfrm>
          <a:prstGeom prst="rect">
            <a:avLst/>
          </a:prstGeom>
          <a:noFill/>
          <a:ln/>
        </p:spPr>
        <p:txBody>
          <a:bodyPr wrap="square" lIns="0" tIns="0" rIns="0" bIns="0" rtlCol="0" anchor="t"/>
          <a:lstStyle/>
          <a:p>
            <a:pPr indent="0" marL="0">
              <a:buNone/>
            </a:pPr>
            <a:r>
              <a:rPr lang="en-US" sz="950" b="1" spc="100" kern="0" dirty="0">
                <a:solidFill>
                  <a:srgbClr val="84376F"/>
                </a:solidFill>
                <a:latin typeface="Arial" pitchFamily="34" charset="0"/>
                <a:ea typeface="Arial" pitchFamily="34" charset="-122"/>
                <a:cs typeface="Arial" pitchFamily="34" charset="-120"/>
              </a:rPr>
              <a:t>AUDITOR ONLY</a:t>
            </a:r>
            <a:endParaRPr lang="en-US" sz="950" dirty="0"/>
          </a:p>
        </p:txBody>
      </p:sp>
      <p:sp>
        <p:nvSpPr>
          <p:cNvPr id="61" name="Text 59"/>
          <p:cNvSpPr txBox="1"/>
          <p:nvPr/>
        </p:nvSpPr>
        <p:spPr>
          <a:xfrm>
            <a:off x="5760720" y="4407408"/>
            <a:ext cx="2011680" cy="822960"/>
          </a:xfrm>
          <a:prstGeom prst="rect">
            <a:avLst/>
          </a:prstGeom>
          <a:noFill/>
          <a:ln/>
        </p:spPr>
        <p:txBody>
          <a:bodyPr wrap="square" lIns="0" tIns="0" rIns="0" bIns="0" rtlCol="0" anchor="t"/>
          <a:lstStyle/>
          <a:p>
            <a:pPr indent="0" marL="0">
              <a:buNone/>
            </a:pPr>
            <a:r>
              <a:rPr lang="en-US" sz="1200" b="1" dirty="0">
                <a:solidFill>
                  <a:srgbClr val="14211F"/>
                </a:solidFill>
                <a:latin typeface="Arial" pitchFamily="34" charset="0"/>
                <a:ea typeface="Arial" pitchFamily="34" charset="-122"/>
                <a:cs typeface="Arial" pitchFamily="34" charset="-120"/>
              </a:rPr>
              <a:t>BigQuery MCP server</a:t>
            </a:r>
            <a:endParaRPr lang="en-US" sz="1200" dirty="0"/>
          </a:p>
          <a:p>
            <a:pPr indent="0" marL="0">
              <a:buNone/>
            </a:pPr>
            <a:r>
              <a:rPr lang="en-US" sz="1200" dirty="0">
                <a:solidFill>
                  <a:srgbClr val="84376F"/>
                </a:solidFill>
                <a:latin typeface="Arial" pitchFamily="34" charset="0"/>
                <a:ea typeface="Arial" pitchFamily="34" charset="-122"/>
                <a:cs typeface="Arial" pitchFamily="34" charset="-120"/>
              </a:rPr>
              <a:t>→ Census race and ethnicity</a:t>
            </a:r>
            <a:endParaRPr lang="en-US" sz="1200" dirty="0"/>
          </a:p>
        </p:txBody>
      </p:sp>
      <p:sp>
        <p:nvSpPr>
          <p:cNvPr id="62" name="Shape 60"/>
          <p:cNvSpPr/>
          <p:nvPr/>
        </p:nvSpPr>
        <p:spPr>
          <a:xfrm>
            <a:off x="6766560" y="3749040"/>
            <a:ext cx="914" cy="320040"/>
          </a:xfrm>
          <a:prstGeom prst="line">
            <a:avLst/>
          </a:prstGeom>
          <a:noFill/>
          <a:ln w="19050">
            <a:solidFill>
              <a:srgbClr val="84376F"/>
            </a:solidFill>
            <a:prstDash val="solid"/>
            <a:tailEnd type="triangle"/>
          </a:ln>
        </p:spPr>
      </p:sp>
      <p:sp>
        <p:nvSpPr>
          <p:cNvPr id="63" name="Shape 61"/>
          <p:cNvSpPr/>
          <p:nvPr/>
        </p:nvSpPr>
        <p:spPr>
          <a:xfrm>
            <a:off x="8275320" y="4069080"/>
            <a:ext cx="3383280" cy="1600200"/>
          </a:xfrm>
          <a:prstGeom prst="roundRect">
            <a:avLst>
              <a:gd name="adj" fmla="val 6857"/>
            </a:avLst>
          </a:prstGeom>
          <a:solidFill>
            <a:srgbClr val="E1F0EC"/>
          </a:solidFill>
          <a:ln w="12700">
            <a:solidFill>
              <a:srgbClr val="0D6B61"/>
            </a:solidFill>
            <a:prstDash val="dash"/>
          </a:ln>
        </p:spPr>
      </p:sp>
      <p:sp>
        <p:nvSpPr>
          <p:cNvPr id="64" name="Text 62"/>
          <p:cNvSpPr txBox="1"/>
          <p:nvPr/>
        </p:nvSpPr>
        <p:spPr>
          <a:xfrm>
            <a:off x="8385048" y="4133088"/>
            <a:ext cx="3163824" cy="228600"/>
          </a:xfrm>
          <a:prstGeom prst="rect">
            <a:avLst/>
          </a:prstGeom>
          <a:noFill/>
          <a:ln/>
        </p:spPr>
        <p:txBody>
          <a:bodyPr wrap="square" lIns="0" tIns="0" rIns="0" bIns="0" rtlCol="0" anchor="t"/>
          <a:lstStyle/>
          <a:p>
            <a:pPr indent="0" marL="0">
              <a:buNone/>
            </a:pPr>
            <a:r>
              <a:rPr lang="en-US" sz="950" b="1" spc="100" kern="0" dirty="0">
                <a:solidFill>
                  <a:srgbClr val="0D6B61"/>
                </a:solidFill>
                <a:latin typeface="Arial" pitchFamily="34" charset="0"/>
                <a:ea typeface="Arial" pitchFamily="34" charset="-122"/>
                <a:cs typeface="Arial" pitchFamily="34" charset="-120"/>
              </a:rPr>
              <a:t>PUBLISHED PLAN → COMMUNITY PAGE</a:t>
            </a:r>
            <a:endParaRPr lang="en-US" sz="950" dirty="0"/>
          </a:p>
        </p:txBody>
      </p:sp>
      <p:sp>
        <p:nvSpPr>
          <p:cNvPr id="65" name="Shape 63"/>
          <p:cNvSpPr/>
          <p:nvPr/>
        </p:nvSpPr>
        <p:spPr>
          <a:xfrm>
            <a:off x="8458200" y="4434840"/>
            <a:ext cx="1463040" cy="1051560"/>
          </a:xfrm>
          <a:prstGeom prst="roundRect">
            <a:avLst>
              <a:gd name="adj" fmla="val 8696"/>
            </a:avLst>
          </a:prstGeom>
          <a:solidFill>
            <a:srgbClr val="FFFFFF"/>
          </a:solidFill>
          <a:ln w="19050">
            <a:solidFill>
              <a:srgbClr val="14211F"/>
            </a:solidFill>
            <a:prstDash val="solid"/>
          </a:ln>
        </p:spPr>
      </p:sp>
      <p:sp>
        <p:nvSpPr>
          <p:cNvPr id="66" name="Shape 64"/>
          <p:cNvSpPr/>
          <p:nvPr/>
        </p:nvSpPr>
        <p:spPr>
          <a:xfrm>
            <a:off x="8330184" y="4306824"/>
            <a:ext cx="329184" cy="329184"/>
          </a:xfrm>
          <a:prstGeom prst="ellipse">
            <a:avLst/>
          </a:prstGeom>
          <a:solidFill>
            <a:srgbClr val="0D6B61"/>
          </a:solidFill>
          <a:ln w="12700">
            <a:solidFill>
              <a:srgbClr val="FFFFFF"/>
            </a:solidFill>
            <a:prstDash val="solid"/>
          </a:ln>
        </p:spPr>
      </p:sp>
      <p:sp>
        <p:nvSpPr>
          <p:cNvPr id="67" name="Text 65"/>
          <p:cNvSpPr txBox="1"/>
          <p:nvPr/>
        </p:nvSpPr>
        <p:spPr>
          <a:xfrm>
            <a:off x="8330184" y="43068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68" name="Text 66"/>
          <p:cNvSpPr txBox="1"/>
          <p:nvPr/>
        </p:nvSpPr>
        <p:spPr>
          <a:xfrm>
            <a:off x="8595360" y="4526280"/>
            <a:ext cx="1188720" cy="420624"/>
          </a:xfrm>
          <a:prstGeom prst="rect">
            <a:avLst/>
          </a:prstGeom>
          <a:noFill/>
          <a:ln/>
        </p:spPr>
        <p:txBody>
          <a:bodyPr wrap="square" lIns="0" tIns="0" rIns="0" bIns="0" rtlCol="0" anchor="t"/>
          <a:lstStyle/>
          <a:p>
            <a:pPr algn="ctr" indent="0" marL="0">
              <a:buNone/>
            </a:pPr>
            <a:r>
              <a:rPr lang="en-US" sz="1200" b="1" dirty="0">
                <a:solidFill>
                  <a:srgbClr val="14211F"/>
                </a:solidFill>
                <a:latin typeface="Arial" pitchFamily="34" charset="0"/>
                <a:ea typeface="Arial" pitchFamily="34" charset="-122"/>
                <a:cs typeface="Arial" pitchFamily="34" charset="-120"/>
              </a:rPr>
              <a:t>Community helper</a:t>
            </a:r>
            <a:endParaRPr lang="en-US" sz="1200" dirty="0"/>
          </a:p>
        </p:txBody>
      </p:sp>
      <p:sp>
        <p:nvSpPr>
          <p:cNvPr id="69" name="Text 67"/>
          <p:cNvSpPr txBox="1"/>
          <p:nvPr/>
        </p:nvSpPr>
        <p:spPr>
          <a:xfrm>
            <a:off x="8549640" y="4983480"/>
            <a:ext cx="1280160" cy="466344"/>
          </a:xfrm>
          <a:prstGeom prst="rect">
            <a:avLst/>
          </a:prstGeom>
          <a:noFill/>
          <a:ln/>
        </p:spPr>
        <p:txBody>
          <a:bodyPr wrap="square" lIns="0" tIns="0" rIns="0" bIns="0" rtlCol="0" anchor="t"/>
          <a:lstStyle/>
          <a:p>
            <a:pPr algn="ctr" indent="0" marL="0">
              <a:buNone/>
            </a:pPr>
            <a:r>
              <a:rPr lang="en-US" sz="1050" dirty="0">
                <a:solidFill>
                  <a:srgbClr val="56645F"/>
                </a:solidFill>
                <a:latin typeface="Arial" pitchFamily="34" charset="0"/>
                <a:ea typeface="Arial" pitchFamily="34" charset="-122"/>
                <a:cs typeface="Arial" pitchFamily="34" charset="-120"/>
              </a:rPr>
              <a:t>text chat, EN + ES</a:t>
            </a:r>
            <a:endParaRPr lang="en-US" sz="1050" dirty="0"/>
          </a:p>
        </p:txBody>
      </p:sp>
      <p:sp>
        <p:nvSpPr>
          <p:cNvPr id="70" name="Shape 68"/>
          <p:cNvSpPr/>
          <p:nvPr/>
        </p:nvSpPr>
        <p:spPr>
          <a:xfrm>
            <a:off x="10104120" y="4434840"/>
            <a:ext cx="1417320" cy="1051560"/>
          </a:xfrm>
          <a:prstGeom prst="roundRect">
            <a:avLst>
              <a:gd name="adj" fmla="val 8696"/>
            </a:avLst>
          </a:prstGeom>
          <a:solidFill>
            <a:srgbClr val="FFFFFF"/>
          </a:solidFill>
          <a:ln w="19050">
            <a:solidFill>
              <a:srgbClr val="14211F"/>
            </a:solidFill>
            <a:prstDash val="solid"/>
          </a:ln>
        </p:spPr>
      </p:sp>
      <p:sp>
        <p:nvSpPr>
          <p:cNvPr id="71" name="Shape 69"/>
          <p:cNvSpPr/>
          <p:nvPr/>
        </p:nvSpPr>
        <p:spPr>
          <a:xfrm>
            <a:off x="9976104" y="4306824"/>
            <a:ext cx="329184" cy="329184"/>
          </a:xfrm>
          <a:prstGeom prst="ellipse">
            <a:avLst/>
          </a:prstGeom>
          <a:solidFill>
            <a:srgbClr val="0D6B61"/>
          </a:solidFill>
          <a:ln w="12700">
            <a:solidFill>
              <a:srgbClr val="FFFFFF"/>
            </a:solidFill>
            <a:prstDash val="solid"/>
          </a:ln>
        </p:spPr>
      </p:sp>
      <p:sp>
        <p:nvSpPr>
          <p:cNvPr id="72" name="Text 70"/>
          <p:cNvSpPr txBox="1"/>
          <p:nvPr/>
        </p:nvSpPr>
        <p:spPr>
          <a:xfrm>
            <a:off x="9976104" y="43068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8</a:t>
            </a:r>
            <a:endParaRPr lang="en-US" sz="1100" dirty="0"/>
          </a:p>
        </p:txBody>
      </p:sp>
      <p:sp>
        <p:nvSpPr>
          <p:cNvPr id="73" name="Text 71"/>
          <p:cNvSpPr txBox="1"/>
          <p:nvPr/>
        </p:nvSpPr>
        <p:spPr>
          <a:xfrm>
            <a:off x="10241280" y="4526280"/>
            <a:ext cx="1143000" cy="420624"/>
          </a:xfrm>
          <a:prstGeom prst="rect">
            <a:avLst/>
          </a:prstGeom>
          <a:noFill/>
          <a:ln/>
        </p:spPr>
        <p:txBody>
          <a:bodyPr wrap="square" lIns="0" tIns="0" rIns="0" bIns="0" rtlCol="0" anchor="t"/>
          <a:lstStyle/>
          <a:p>
            <a:pPr algn="ctr" indent="0" marL="0">
              <a:buNone/>
            </a:pPr>
            <a:r>
              <a:rPr lang="en-US" sz="1200" b="1" dirty="0">
                <a:solidFill>
                  <a:srgbClr val="14211F"/>
                </a:solidFill>
                <a:latin typeface="Arial" pitchFamily="34" charset="0"/>
                <a:ea typeface="Arial" pitchFamily="34" charset="-122"/>
                <a:cs typeface="Arial" pitchFamily="34" charset="-120"/>
              </a:rPr>
              <a:t>Community voice</a:t>
            </a:r>
            <a:endParaRPr lang="en-US" sz="1200" dirty="0"/>
          </a:p>
        </p:txBody>
      </p:sp>
      <p:sp>
        <p:nvSpPr>
          <p:cNvPr id="74" name="Text 72"/>
          <p:cNvSpPr txBox="1"/>
          <p:nvPr/>
        </p:nvSpPr>
        <p:spPr>
          <a:xfrm>
            <a:off x="10195560" y="4983480"/>
            <a:ext cx="1234440" cy="466344"/>
          </a:xfrm>
          <a:prstGeom prst="rect">
            <a:avLst/>
          </a:prstGeom>
          <a:noFill/>
          <a:ln/>
        </p:spPr>
        <p:txBody>
          <a:bodyPr wrap="square" lIns="0" tIns="0" rIns="0" bIns="0" rtlCol="0" anchor="t"/>
          <a:lstStyle/>
          <a:p>
            <a:pPr algn="ctr" indent="0" marL="0">
              <a:buNone/>
            </a:pPr>
            <a:r>
              <a:rPr lang="en-US" sz="1050" dirty="0">
                <a:solidFill>
                  <a:srgbClr val="56645F"/>
                </a:solidFill>
                <a:latin typeface="Arial" pitchFamily="34" charset="0"/>
                <a:ea typeface="Arial" pitchFamily="34" charset="-122"/>
                <a:cs typeface="Arial" pitchFamily="34" charset="-120"/>
              </a:rPr>
              <a:t>live Gemini audio</a:t>
            </a:r>
            <a:endParaRPr lang="en-US" sz="1050" dirty="0"/>
          </a:p>
        </p:txBody>
      </p:sp>
      <p:sp>
        <p:nvSpPr>
          <p:cNvPr id="75" name="Shape 73"/>
          <p:cNvSpPr/>
          <p:nvPr/>
        </p:nvSpPr>
        <p:spPr>
          <a:xfrm>
            <a:off x="11219688" y="3063240"/>
            <a:ext cx="914" cy="1005840"/>
          </a:xfrm>
          <a:prstGeom prst="line">
            <a:avLst/>
          </a:prstGeom>
          <a:noFill/>
          <a:ln w="19050">
            <a:solidFill>
              <a:srgbClr val="0D6B61"/>
            </a:solidFill>
            <a:prstDash val="solid"/>
            <a:tailEnd type="triangle"/>
          </a:ln>
        </p:spPr>
      </p:sp>
      <p:sp>
        <p:nvSpPr>
          <p:cNvPr id="76" name="Text 74"/>
          <p:cNvSpPr txBox="1"/>
          <p:nvPr/>
        </p:nvSpPr>
        <p:spPr>
          <a:xfrm>
            <a:off x="11247120" y="3520440"/>
            <a:ext cx="640080" cy="237744"/>
          </a:xfrm>
          <a:prstGeom prst="rect">
            <a:avLst/>
          </a:prstGeom>
          <a:noFill/>
          <a:ln/>
        </p:spPr>
        <p:txBody>
          <a:bodyPr wrap="square" lIns="0" tIns="0" rIns="0" bIns="0" rtlCol="0" anchor="t"/>
          <a:lstStyle/>
          <a:p>
            <a:pPr algn="ctr" indent="0" marL="0">
              <a:buNone/>
            </a:pPr>
            <a:r>
              <a:rPr lang="en-US" sz="950" b="1" dirty="0">
                <a:solidFill>
                  <a:srgbClr val="0D6B61"/>
                </a:solidFill>
                <a:latin typeface="Arial" pitchFamily="34" charset="0"/>
                <a:ea typeface="Arial" pitchFamily="34" charset="-122"/>
                <a:cs typeface="Arial" pitchFamily="34" charset="-120"/>
              </a:rPr>
              <a:t>Publish</a:t>
            </a:r>
            <a:endParaRPr lang="en-US" sz="950" dirty="0"/>
          </a:p>
        </p:txBody>
      </p:sp>
      <p:sp>
        <p:nvSpPr>
          <p:cNvPr id="77" name="Shape 75"/>
          <p:cNvSpPr/>
          <p:nvPr/>
        </p:nvSpPr>
        <p:spPr>
          <a:xfrm>
            <a:off x="548640" y="5897880"/>
            <a:ext cx="256032" cy="256032"/>
          </a:xfrm>
          <a:prstGeom prst="ellipse">
            <a:avLst/>
          </a:prstGeom>
          <a:solidFill>
            <a:srgbClr val="0D6B61"/>
          </a:solidFill>
          <a:ln w="12700">
            <a:solidFill>
              <a:srgbClr val="0D6B61"/>
            </a:solidFill>
            <a:prstDash val="solid"/>
          </a:ln>
        </p:spPr>
      </p:sp>
      <p:sp>
        <p:nvSpPr>
          <p:cNvPr id="78" name="Text 76"/>
          <p:cNvSpPr txBox="1"/>
          <p:nvPr/>
        </p:nvSpPr>
        <p:spPr>
          <a:xfrm>
            <a:off x="896112" y="5897880"/>
            <a:ext cx="2468880" cy="256032"/>
          </a:xfrm>
          <a:prstGeom prst="rect">
            <a:avLst/>
          </a:prstGeom>
          <a:noFill/>
          <a:ln/>
        </p:spPr>
        <p:txBody>
          <a:bodyPr wrap="square" lIns="0" tIns="0" rIns="0" bIns="0" rtlCol="0" anchor="ctr"/>
          <a:lstStyle/>
          <a:p>
            <a:pPr indent="0" marL="0">
              <a:buNone/>
            </a:pPr>
            <a:r>
              <a:rPr lang="en-US" sz="1100" dirty="0">
                <a:solidFill>
                  <a:srgbClr val="56645F"/>
                </a:solidFill>
                <a:latin typeface="Arial" pitchFamily="34" charset="0"/>
                <a:ea typeface="Arial" pitchFamily="34" charset="-122"/>
                <a:cs typeface="Arial" pitchFamily="34" charset="-120"/>
              </a:rPr>
              <a:t>1-8 = the eight Gemini agents</a:t>
            </a:r>
            <a:endParaRPr lang="en-US" sz="1100" dirty="0"/>
          </a:p>
        </p:txBody>
      </p:sp>
      <p:sp>
        <p:nvSpPr>
          <p:cNvPr id="79" name="Shape 77"/>
          <p:cNvSpPr/>
          <p:nvPr/>
        </p:nvSpPr>
        <p:spPr>
          <a:xfrm>
            <a:off x="3429000" y="5897880"/>
            <a:ext cx="365760" cy="256032"/>
          </a:xfrm>
          <a:prstGeom prst="roundRect">
            <a:avLst>
              <a:gd name="adj" fmla="val 17857"/>
            </a:avLst>
          </a:prstGeom>
          <a:solidFill>
            <a:srgbClr val="F4F7F6"/>
          </a:solidFill>
          <a:ln w="12700">
            <a:solidFill>
              <a:srgbClr val="56645F"/>
            </a:solidFill>
            <a:prstDash val="dash"/>
          </a:ln>
        </p:spPr>
      </p:sp>
      <p:sp>
        <p:nvSpPr>
          <p:cNvPr id="80" name="Text 78"/>
          <p:cNvSpPr txBox="1"/>
          <p:nvPr/>
        </p:nvSpPr>
        <p:spPr>
          <a:xfrm>
            <a:off x="3886200" y="5897880"/>
            <a:ext cx="1554480" cy="256032"/>
          </a:xfrm>
          <a:prstGeom prst="rect">
            <a:avLst/>
          </a:prstGeom>
          <a:noFill/>
          <a:ln/>
        </p:spPr>
        <p:txBody>
          <a:bodyPr wrap="square" lIns="0" tIns="0" rIns="0" bIns="0" rtlCol="0" anchor="ctr"/>
          <a:lstStyle/>
          <a:p>
            <a:pPr indent="0" marL="0">
              <a:buNone/>
            </a:pPr>
            <a:r>
              <a:rPr lang="en-US" sz="1100" dirty="0">
                <a:solidFill>
                  <a:srgbClr val="56645F"/>
                </a:solidFill>
                <a:latin typeface="Arial" pitchFamily="34" charset="0"/>
                <a:ea typeface="Arial" pitchFamily="34" charset="-122"/>
                <a:cs typeface="Arial" pitchFamily="34" charset="-120"/>
              </a:rPr>
              <a:t>code step, no AI</a:t>
            </a:r>
            <a:endParaRPr lang="en-US" sz="1100" dirty="0"/>
          </a:p>
        </p:txBody>
      </p:sp>
      <p:sp>
        <p:nvSpPr>
          <p:cNvPr id="81" name="Shape 79"/>
          <p:cNvSpPr/>
          <p:nvPr/>
        </p:nvSpPr>
        <p:spPr>
          <a:xfrm>
            <a:off x="5486400" y="5897880"/>
            <a:ext cx="365760" cy="256032"/>
          </a:xfrm>
          <a:prstGeom prst="roundRect">
            <a:avLst>
              <a:gd name="adj" fmla="val 17857"/>
            </a:avLst>
          </a:prstGeom>
          <a:solidFill>
            <a:srgbClr val="F5E9F1"/>
          </a:solidFill>
          <a:ln w="12700">
            <a:solidFill>
              <a:srgbClr val="84376F"/>
            </a:solidFill>
            <a:prstDash val="solid"/>
          </a:ln>
        </p:spPr>
      </p:sp>
      <p:sp>
        <p:nvSpPr>
          <p:cNvPr id="82" name="Text 80"/>
          <p:cNvSpPr txBox="1"/>
          <p:nvPr/>
        </p:nvSpPr>
        <p:spPr>
          <a:xfrm>
            <a:off x="5943600" y="5897880"/>
            <a:ext cx="2286000" cy="256032"/>
          </a:xfrm>
          <a:prstGeom prst="rect">
            <a:avLst/>
          </a:prstGeom>
          <a:noFill/>
          <a:ln/>
        </p:spPr>
        <p:txBody>
          <a:bodyPr wrap="square" lIns="0" tIns="0" rIns="0" bIns="0" rtlCol="0" anchor="ctr"/>
          <a:lstStyle/>
          <a:p>
            <a:pPr indent="0" marL="0">
              <a:buNone/>
            </a:pPr>
            <a:r>
              <a:rPr lang="en-US" sz="1100" dirty="0">
                <a:solidFill>
                  <a:srgbClr val="56645F"/>
                </a:solidFill>
                <a:latin typeface="Arial" pitchFamily="34" charset="0"/>
                <a:ea typeface="Arial" pitchFamily="34" charset="-122"/>
                <a:cs typeface="Arial" pitchFamily="34" charset="-120"/>
              </a:rPr>
              <a:t>can read race and ethnicity</a:t>
            </a:r>
            <a:endParaRPr lang="en-US" sz="1100" dirty="0"/>
          </a:p>
        </p:txBody>
      </p:sp>
      <p:sp>
        <p:nvSpPr>
          <p:cNvPr id="83" name="Text 81"/>
          <p:cNvSpPr txBox="1"/>
          <p:nvPr/>
        </p:nvSpPr>
        <p:spPr>
          <a:xfrm>
            <a:off x="8275320" y="5897880"/>
            <a:ext cx="3383280" cy="256032"/>
          </a:xfrm>
          <a:prstGeom prst="rect">
            <a:avLst/>
          </a:prstGeom>
          <a:noFill/>
          <a:ln/>
        </p:spPr>
        <p:txBody>
          <a:bodyPr wrap="square" lIns="0" tIns="0" rIns="0" bIns="0" rtlCol="0" anchor="ctr"/>
          <a:lstStyle/>
          <a:p>
            <a:pPr indent="0" marL="0">
              <a:buNone/>
            </a:pPr>
            <a:r>
              <a:rPr lang="en-US" sz="1100" dirty="0">
                <a:solidFill>
                  <a:srgbClr val="0D6B61"/>
                </a:solidFill>
                <a:latin typeface="Arial" pitchFamily="34" charset="0"/>
                <a:ea typeface="Arial" pitchFamily="34" charset="-122"/>
                <a:cs typeface="Arial" pitchFamily="34" charset="-120"/>
              </a:rPr>
              <a:t>teal labels = keys passed in session.state</a:t>
            </a:r>
            <a:endParaRPr lang="en-US" sz="11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t"/>
          <a:lstStyle/>
          <a:p>
            <a:pPr algn="l" indent="0" marL="0">
              <a:buNone/>
            </a:pPr>
            <a:r>
              <a:rPr lang="en-US" sz="3000" b="1" dirty="0">
                <a:solidFill>
                  <a:srgbClr val="14211F"/>
                </a:solidFill>
                <a:latin typeface="Arial" pitchFamily="34" charset="0"/>
                <a:ea typeface="Arial" pitchFamily="34" charset="-122"/>
                <a:cs typeface="Arial" pitchFamily="34" charset="-120"/>
              </a:rPr>
              <a:t>What we found: it pushes back, on the request and on itself</a:t>
            </a:r>
            <a:endParaRPr lang="en-US" sz="3000" dirty="0"/>
          </a:p>
        </p:txBody>
      </p:sp>
      <p:sp>
        <p:nvSpPr>
          <p:cNvPr id="3" name="Text 1"/>
          <p:cNvSpPr txBox="1"/>
          <p:nvPr/>
        </p:nvSpPr>
        <p:spPr>
          <a:xfrm>
            <a:off x="548640" y="1280160"/>
            <a:ext cx="5486400" cy="274320"/>
          </a:xfrm>
          <a:prstGeom prst="rect">
            <a:avLst/>
          </a:prstGeom>
          <a:noFill/>
          <a:ln/>
        </p:spPr>
        <p:txBody>
          <a:bodyPr wrap="square" lIns="0" tIns="0" rIns="0" bIns="0" rtlCol="0" anchor="t"/>
          <a:lstStyle/>
          <a:p>
            <a:pPr indent="0" marL="0">
              <a:buNone/>
            </a:pPr>
            <a:r>
              <a:rPr lang="en-US" sz="1100" b="1" spc="100" kern="0" dirty="0">
                <a:solidFill>
                  <a:srgbClr val="56645F"/>
                </a:solidFill>
                <a:latin typeface="Arial" pitchFamily="34" charset="0"/>
                <a:ea typeface="Arial" pitchFamily="34" charset="-122"/>
                <a:cs typeface="Arial" pitchFamily="34" charset="-120"/>
              </a:rPr>
              <a:t>BEFORE PLANNING · THE REQUEST REVIEWER</a:t>
            </a:r>
            <a:endParaRPr lang="en-US" sz="1100" dirty="0"/>
          </a:p>
        </p:txBody>
      </p:sp>
      <p:sp>
        <p:nvSpPr>
          <p:cNvPr id="4" name="Shape 2"/>
          <p:cNvSpPr/>
          <p:nvPr/>
        </p:nvSpPr>
        <p:spPr>
          <a:xfrm>
            <a:off x="548640" y="1645920"/>
            <a:ext cx="5486400" cy="1280160"/>
          </a:xfrm>
          <a:prstGeom prst="roundRect">
            <a:avLst>
              <a:gd name="adj" fmla="val 8571"/>
            </a:avLst>
          </a:prstGeom>
          <a:solidFill>
            <a:srgbClr val="F5E9F1"/>
          </a:solidFill>
          <a:ln w="12700">
            <a:solidFill>
              <a:srgbClr val="84376F"/>
            </a:solidFill>
            <a:prstDash val="solid"/>
          </a:ln>
        </p:spPr>
      </p:sp>
      <p:sp>
        <p:nvSpPr>
          <p:cNvPr id="5" name="Text 3"/>
          <p:cNvSpPr txBox="1"/>
          <p:nvPr/>
        </p:nvSpPr>
        <p:spPr>
          <a:xfrm>
            <a:off x="777240" y="1764792"/>
            <a:ext cx="2011680" cy="274320"/>
          </a:xfrm>
          <a:prstGeom prst="rect">
            <a:avLst/>
          </a:prstGeom>
          <a:noFill/>
          <a:ln/>
        </p:spPr>
        <p:txBody>
          <a:bodyPr wrap="square" lIns="0" tIns="0" rIns="0" bIns="0" rtlCol="0" anchor="t"/>
          <a:lstStyle/>
          <a:p>
            <a:pPr indent="0" marL="0">
              <a:buNone/>
            </a:pPr>
            <a:r>
              <a:rPr lang="en-US" sz="1300" b="1" dirty="0">
                <a:solidFill>
                  <a:srgbClr val="84376F"/>
                </a:solidFill>
                <a:latin typeface="Arial" pitchFamily="34" charset="0"/>
                <a:ea typeface="Arial" pitchFamily="34" charset="-122"/>
                <a:cs typeface="Arial" pitchFamily="34" charset="-120"/>
              </a:rPr>
              <a:t>NOT FOLLOWED</a:t>
            </a:r>
            <a:endParaRPr lang="en-US" sz="1300" dirty="0"/>
          </a:p>
        </p:txBody>
      </p:sp>
      <p:sp>
        <p:nvSpPr>
          <p:cNvPr id="6" name="Text 4"/>
          <p:cNvSpPr txBox="1"/>
          <p:nvPr/>
        </p:nvSpPr>
        <p:spPr>
          <a:xfrm>
            <a:off x="2651760" y="1764792"/>
            <a:ext cx="3246120" cy="274320"/>
          </a:xfrm>
          <a:prstGeom prst="rect">
            <a:avLst/>
          </a:prstGeom>
          <a:noFill/>
          <a:ln/>
        </p:spPr>
        <p:txBody>
          <a:bodyPr wrap="square" lIns="0" tIns="0" rIns="0" bIns="0" rtlCol="0" anchor="t"/>
          <a:lstStyle/>
          <a:p>
            <a:pPr indent="0" marL="0">
              <a:buNone/>
            </a:pPr>
            <a:r>
              <a:rPr lang="en-US" sz="1300" i="1" dirty="0">
                <a:solidFill>
                  <a:srgbClr val="14211F"/>
                </a:solidFill>
                <a:latin typeface="Arial" pitchFamily="34" charset="0"/>
                <a:ea typeface="Arial" pitchFamily="34" charset="-122"/>
                <a:cs typeface="Arial" pitchFamily="34" charset="-120"/>
              </a:rPr>
              <a:t>"only visit white neighbourhoods"</a:t>
            </a:r>
            <a:endParaRPr lang="en-US" sz="1300" dirty="0"/>
          </a:p>
        </p:txBody>
      </p:sp>
      <p:sp>
        <p:nvSpPr>
          <p:cNvPr id="7" name="Text 5"/>
          <p:cNvSpPr txBox="1"/>
          <p:nvPr/>
        </p:nvSpPr>
        <p:spPr>
          <a:xfrm>
            <a:off x="777240" y="2103120"/>
            <a:ext cx="5074920" cy="777240"/>
          </a:xfrm>
          <a:prstGeom prst="rect">
            <a:avLst/>
          </a:prstGeom>
          <a:noFill/>
          <a:ln/>
        </p:spPr>
        <p:txBody>
          <a:bodyPr wrap="square" lIns="0" tIns="0" rIns="0" bIns="0" rtlCol="0" anchor="t"/>
          <a:lstStyle/>
          <a:p>
            <a:pPr indent="0" marL="0">
              <a:buNone/>
            </a:pPr>
            <a:r>
              <a:rPr lang="en-US" sz="1300" dirty="0">
                <a:solidFill>
                  <a:srgbClr val="14211F"/>
                </a:solidFill>
                <a:latin typeface="Arial" pitchFamily="34" charset="0"/>
                <a:ea typeface="Arial" pitchFamily="34" charset="-122"/>
                <a:cs typeface="Arial" pitchFamily="34" charset="-120"/>
              </a:rPr>
              <a:t>Race can't choose where the van goes. Plan unchanged; White residents 6.8% of the plan vs 11.8% of high-need tracts.</a:t>
            </a:r>
            <a:endParaRPr lang="en-US" sz="1300" dirty="0"/>
          </a:p>
        </p:txBody>
      </p:sp>
      <p:sp>
        <p:nvSpPr>
          <p:cNvPr id="8" name="Shape 6"/>
          <p:cNvSpPr/>
          <p:nvPr/>
        </p:nvSpPr>
        <p:spPr>
          <a:xfrm>
            <a:off x="548640" y="3063240"/>
            <a:ext cx="5486400" cy="1280160"/>
          </a:xfrm>
          <a:prstGeom prst="roundRect">
            <a:avLst>
              <a:gd name="adj" fmla="val 8571"/>
            </a:avLst>
          </a:prstGeom>
          <a:solidFill>
            <a:srgbClr val="FBEEDD"/>
          </a:solidFill>
          <a:ln w="12700">
            <a:solidFill>
              <a:srgbClr val="9A5200"/>
            </a:solidFill>
            <a:prstDash val="solid"/>
          </a:ln>
        </p:spPr>
      </p:sp>
      <p:sp>
        <p:nvSpPr>
          <p:cNvPr id="9" name="Text 7"/>
          <p:cNvSpPr txBox="1"/>
          <p:nvPr/>
        </p:nvSpPr>
        <p:spPr>
          <a:xfrm>
            <a:off x="777240" y="3182112"/>
            <a:ext cx="2011680" cy="274320"/>
          </a:xfrm>
          <a:prstGeom prst="rect">
            <a:avLst/>
          </a:prstGeom>
          <a:noFill/>
          <a:ln/>
        </p:spPr>
        <p:txBody>
          <a:bodyPr wrap="square" lIns="0" tIns="0" rIns="0" bIns="0" rtlCol="0" anchor="t"/>
          <a:lstStyle/>
          <a:p>
            <a:pPr indent="0" marL="0">
              <a:buNone/>
            </a:pPr>
            <a:r>
              <a:rPr lang="en-US" sz="1300" b="1" dirty="0">
                <a:solidFill>
                  <a:srgbClr val="9A5200"/>
                </a:solidFill>
                <a:latin typeface="Arial" pitchFamily="34" charset="0"/>
                <a:ea typeface="Arial" pitchFamily="34" charset="-122"/>
                <a:cs typeface="Arial" pitchFamily="34" charset="-120"/>
              </a:rPr>
              <a:t>ADJUSTED</a:t>
            </a:r>
            <a:endParaRPr lang="en-US" sz="1300" dirty="0"/>
          </a:p>
        </p:txBody>
      </p:sp>
      <p:sp>
        <p:nvSpPr>
          <p:cNvPr id="10" name="Text 8"/>
          <p:cNvSpPr txBox="1"/>
          <p:nvPr/>
        </p:nvSpPr>
        <p:spPr>
          <a:xfrm>
            <a:off x="2651760" y="3182112"/>
            <a:ext cx="3246120" cy="274320"/>
          </a:xfrm>
          <a:prstGeom prst="rect">
            <a:avLst/>
          </a:prstGeom>
          <a:noFill/>
          <a:ln/>
        </p:spPr>
        <p:txBody>
          <a:bodyPr wrap="square" lIns="0" tIns="0" rIns="0" bIns="0" rtlCol="0" anchor="t"/>
          <a:lstStyle/>
          <a:p>
            <a:pPr indent="0" marL="0">
              <a:buNone/>
            </a:pPr>
            <a:r>
              <a:rPr lang="en-US" sz="1300" i="1" dirty="0">
                <a:solidFill>
                  <a:srgbClr val="14211F"/>
                </a:solidFill>
                <a:latin typeface="Arial" pitchFamily="34" charset="0"/>
                <a:ea typeface="Arial" pitchFamily="34" charset="-122"/>
                <a:cs typeface="Arial" pitchFamily="34" charset="-120"/>
              </a:rPr>
              <a:t>"only places with lots of seniors 65+"</a:t>
            </a:r>
            <a:endParaRPr lang="en-US" sz="1300" dirty="0"/>
          </a:p>
        </p:txBody>
      </p:sp>
      <p:sp>
        <p:nvSpPr>
          <p:cNvPr id="11" name="Text 9"/>
          <p:cNvSpPr txBox="1"/>
          <p:nvPr/>
        </p:nvSpPr>
        <p:spPr>
          <a:xfrm>
            <a:off x="777240" y="3520440"/>
            <a:ext cx="5074920" cy="777240"/>
          </a:xfrm>
          <a:prstGeom prst="rect">
            <a:avLst/>
          </a:prstGeom>
          <a:noFill/>
          <a:ln/>
        </p:spPr>
        <p:txBody>
          <a:bodyPr wrap="square" lIns="0" tIns="0" rIns="0" bIns="0" rtlCol="0" anchor="t"/>
          <a:lstStyle/>
          <a:p>
            <a:pPr indent="0" marL="0">
              <a:buNone/>
            </a:pPr>
            <a:r>
              <a:rPr lang="en-US" sz="1300" dirty="0">
                <a:solidFill>
                  <a:srgbClr val="14211F"/>
                </a:solidFill>
                <a:latin typeface="Arial" pitchFamily="34" charset="0"/>
                <a:ea typeface="Arial" pitchFamily="34" charset="-122"/>
                <a:cs typeface="Arial" pitchFamily="34" charset="-120"/>
              </a:rPr>
              <a:t>Extra weight for older adults, not a filter. New route; 65+ is 21.1% of the plan vs 13.4%.</a:t>
            </a:r>
            <a:endParaRPr lang="en-US" sz="1300" dirty="0"/>
          </a:p>
        </p:txBody>
      </p:sp>
      <p:sp>
        <p:nvSpPr>
          <p:cNvPr id="12" name="Shape 10"/>
          <p:cNvSpPr/>
          <p:nvPr/>
        </p:nvSpPr>
        <p:spPr>
          <a:xfrm>
            <a:off x="548640" y="4480560"/>
            <a:ext cx="5486400" cy="1280160"/>
          </a:xfrm>
          <a:prstGeom prst="roundRect">
            <a:avLst>
              <a:gd name="adj" fmla="val 8571"/>
            </a:avLst>
          </a:prstGeom>
          <a:solidFill>
            <a:srgbClr val="E1F0EC"/>
          </a:solidFill>
          <a:ln w="12700">
            <a:solidFill>
              <a:srgbClr val="0D6B61"/>
            </a:solidFill>
            <a:prstDash val="solid"/>
          </a:ln>
        </p:spPr>
      </p:sp>
      <p:sp>
        <p:nvSpPr>
          <p:cNvPr id="13" name="Text 11"/>
          <p:cNvSpPr txBox="1"/>
          <p:nvPr/>
        </p:nvSpPr>
        <p:spPr>
          <a:xfrm>
            <a:off x="777240" y="4599432"/>
            <a:ext cx="2011680" cy="274320"/>
          </a:xfrm>
          <a:prstGeom prst="rect">
            <a:avLst/>
          </a:prstGeom>
          <a:noFill/>
          <a:ln/>
        </p:spPr>
        <p:txBody>
          <a:bodyPr wrap="square" lIns="0" tIns="0" rIns="0" bIns="0" rtlCol="0" anchor="t"/>
          <a:lstStyle/>
          <a:p>
            <a:pPr indent="0" marL="0">
              <a:buNone/>
            </a:pPr>
            <a:r>
              <a:rPr lang="en-US" sz="1300" b="1" dirty="0">
                <a:solidFill>
                  <a:srgbClr val="0D6B61"/>
                </a:solidFill>
                <a:latin typeface="Arial" pitchFamily="34" charset="0"/>
                <a:ea typeface="Arial" pitchFamily="34" charset="-122"/>
                <a:cs typeface="Arial" pitchFamily="34" charset="-120"/>
              </a:rPr>
              <a:t>FOLLOWED</a:t>
            </a:r>
            <a:endParaRPr lang="en-US" sz="1300" dirty="0"/>
          </a:p>
        </p:txBody>
      </p:sp>
      <p:sp>
        <p:nvSpPr>
          <p:cNvPr id="14" name="Text 12"/>
          <p:cNvSpPr txBox="1"/>
          <p:nvPr/>
        </p:nvSpPr>
        <p:spPr>
          <a:xfrm>
            <a:off x="2651760" y="4599432"/>
            <a:ext cx="3246120" cy="274320"/>
          </a:xfrm>
          <a:prstGeom prst="rect">
            <a:avLst/>
          </a:prstGeom>
          <a:noFill/>
          <a:ln/>
        </p:spPr>
        <p:txBody>
          <a:bodyPr wrap="square" lIns="0" tIns="0" rIns="0" bIns="0" rtlCol="0" anchor="t"/>
          <a:lstStyle/>
          <a:p>
            <a:pPr indent="0" marL="0">
              <a:buNone/>
            </a:pPr>
            <a:r>
              <a:rPr lang="en-US" sz="1300" i="1" dirty="0">
                <a:solidFill>
                  <a:srgbClr val="14211F"/>
                </a:solidFill>
                <a:latin typeface="Arial" pitchFamily="34" charset="0"/>
                <a:ea typeface="Arial" pitchFamily="34" charset="-122"/>
                <a:cs typeface="Arial" pitchFamily="34" charset="-120"/>
              </a:rPr>
              <a:t>"leave out tract 13121007604"</a:t>
            </a:r>
            <a:endParaRPr lang="en-US" sz="1300" dirty="0"/>
          </a:p>
        </p:txBody>
      </p:sp>
      <p:sp>
        <p:nvSpPr>
          <p:cNvPr id="15" name="Text 13"/>
          <p:cNvSpPr txBox="1"/>
          <p:nvPr/>
        </p:nvSpPr>
        <p:spPr>
          <a:xfrm>
            <a:off x="777240" y="4937760"/>
            <a:ext cx="5074920" cy="777240"/>
          </a:xfrm>
          <a:prstGeom prst="rect">
            <a:avLst/>
          </a:prstGeom>
          <a:noFill/>
          <a:ln/>
        </p:spPr>
        <p:txBody>
          <a:bodyPr wrap="square" lIns="0" tIns="0" rIns="0" bIns="0" rtlCol="0" anchor="t"/>
          <a:lstStyle/>
          <a:p>
            <a:pPr indent="0" marL="0">
              <a:buNone/>
            </a:pPr>
            <a:r>
              <a:rPr lang="en-US" sz="1300" dirty="0">
                <a:solidFill>
                  <a:srgbClr val="14211F"/>
                </a:solidFill>
                <a:latin typeface="Arial" pitchFamily="34" charset="0"/>
                <a:ea typeface="Arial" pitchFamily="34" charset="-122"/>
                <a:cs typeface="Arial" pitchFamily="34" charset="-120"/>
              </a:rPr>
              <a:t>Excluded as asked; the next tract that fits the spacing rule takes its place.</a:t>
            </a:r>
            <a:endParaRPr lang="en-US" sz="1300" dirty="0"/>
          </a:p>
        </p:txBody>
      </p:sp>
      <p:sp>
        <p:nvSpPr>
          <p:cNvPr id="16" name="Text 14"/>
          <p:cNvSpPr txBox="1"/>
          <p:nvPr/>
        </p:nvSpPr>
        <p:spPr>
          <a:xfrm>
            <a:off x="6400800" y="1280160"/>
            <a:ext cx="5212080" cy="274320"/>
          </a:xfrm>
          <a:prstGeom prst="rect">
            <a:avLst/>
          </a:prstGeom>
          <a:noFill/>
          <a:ln/>
        </p:spPr>
        <p:txBody>
          <a:bodyPr wrap="square" lIns="0" tIns="0" rIns="0" bIns="0" rtlCol="0" anchor="t"/>
          <a:lstStyle/>
          <a:p>
            <a:pPr indent="0" marL="0">
              <a:buNone/>
            </a:pPr>
            <a:r>
              <a:rPr lang="en-US" sz="1100" b="1" spc="100" kern="0" dirty="0">
                <a:solidFill>
                  <a:srgbClr val="56645F"/>
                </a:solidFill>
                <a:latin typeface="Arial" pitchFamily="34" charset="0"/>
                <a:ea typeface="Arial" pitchFamily="34" charset="-122"/>
                <a:cs typeface="Arial" pitchFamily="34" charset="-120"/>
              </a:rPr>
              <a:t>AFTER PLANNING · THE AUDITOR</a:t>
            </a:r>
            <a:endParaRPr lang="en-US" sz="1100" dirty="0"/>
          </a:p>
        </p:txBody>
      </p:sp>
      <p:sp>
        <p:nvSpPr>
          <p:cNvPr id="17" name="Text 15"/>
          <p:cNvSpPr txBox="1"/>
          <p:nvPr/>
        </p:nvSpPr>
        <p:spPr>
          <a:xfrm>
            <a:off x="6400800" y="1645920"/>
            <a:ext cx="5212080" cy="1280160"/>
          </a:xfrm>
          <a:prstGeom prst="rect">
            <a:avLst/>
          </a:prstGeom>
          <a:noFill/>
          <a:ln/>
        </p:spPr>
        <p:txBody>
          <a:bodyPr wrap="square" lIns="0" tIns="0" rIns="0" bIns="0" rtlCol="0" anchor="t"/>
          <a:lstStyle/>
          <a:p>
            <a:pPr indent="0" marL="0">
              <a:buNone/>
            </a:pPr>
            <a:r>
              <a:rPr lang="en-US" sz="1300" dirty="0">
                <a:solidFill>
                  <a:srgbClr val="14211F"/>
                </a:solidFill>
                <a:latin typeface="Arial" pitchFamily="34" charset="0"/>
                <a:ea typeface="Arial" pitchFamily="34" charset="-122"/>
                <a:cs typeface="Arial" pitchFamily="34" charset="-120"/>
              </a:rPr>
              <a:t>Asked to rank only on the uninsured rate, the auditor said </a:t>
            </a:r>
            <a:pPr indent="0" marL="0">
              <a:buNone/>
            </a:pPr>
            <a:r>
              <a:rPr lang="en-US" sz="1300" b="1" dirty="0">
                <a:solidFill>
                  <a:srgbClr val="9A5200"/>
                </a:solidFill>
                <a:latin typeface="Arial" pitchFamily="34" charset="0"/>
                <a:ea typeface="Arial" pitchFamily="34" charset="-122"/>
                <a:cs typeface="Arial" pitchFamily="34" charset="-120"/>
              </a:rPr>
              <a:t>REVISE</a:t>
            </a:r>
            <a:pPr indent="0" marL="0">
              <a:buNone/>
            </a:pPr>
            <a:r>
              <a:rPr lang="en-US" sz="1300" dirty="0">
                <a:solidFill>
                  <a:srgbClr val="14211F"/>
                </a:solidFill>
                <a:latin typeface="Arial" pitchFamily="34" charset="0"/>
                <a:ea typeface="Arial" pitchFamily="34" charset="-122"/>
                <a:cs typeface="Arial" pitchFamily="34" charset="-120"/>
              </a:rPr>
              <a:t>: older adults were under-reached. That measure counts ages 18-64 only, because Medicare covers almost everyone over 65. The reviser fixed it on need, not demographics, and told the lead it changed the request.</a:t>
            </a:r>
            <a:endParaRPr lang="en-US" sz="1300" dirty="0"/>
          </a:p>
        </p:txBody>
      </p:sp>
      <p:sp>
        <p:nvSpPr>
          <p:cNvPr id="18" name="Text 16"/>
          <p:cNvSpPr txBox="1"/>
          <p:nvPr/>
        </p:nvSpPr>
        <p:spPr>
          <a:xfrm>
            <a:off x="6400800" y="3063240"/>
            <a:ext cx="5212080" cy="274320"/>
          </a:xfrm>
          <a:prstGeom prst="rect">
            <a:avLst/>
          </a:prstGeom>
          <a:noFill/>
          <a:ln/>
        </p:spPr>
        <p:txBody>
          <a:bodyPr wrap="square" lIns="0" tIns="0" rIns="0" bIns="0" rtlCol="0" anchor="t"/>
          <a:lstStyle/>
          <a:p>
            <a:pPr indent="0" marL="0">
              <a:buNone/>
            </a:pPr>
            <a:r>
              <a:rPr lang="en-US" sz="1300" b="1" dirty="0">
                <a:solidFill>
                  <a:srgbClr val="14211F"/>
                </a:solidFill>
                <a:latin typeface="Arial" pitchFamily="34" charset="0"/>
                <a:ea typeface="Arial" pitchFamily="34" charset="-122"/>
                <a:cs typeface="Arial" pitchFamily="34" charset="-120"/>
              </a:rPr>
              <a:t>Share of residents aged 65+</a:t>
            </a:r>
            <a:endParaRPr lang="en-US" sz="1300" dirty="0"/>
          </a:p>
        </p:txBody>
      </p:sp>
      <p:sp>
        <p:nvSpPr>
          <p:cNvPr id="19" name="Text 17"/>
          <p:cNvSpPr txBox="1"/>
          <p:nvPr/>
        </p:nvSpPr>
        <p:spPr>
          <a:xfrm>
            <a:off x="6400800" y="3520440"/>
            <a:ext cx="2011680" cy="256032"/>
          </a:xfrm>
          <a:prstGeom prst="rect">
            <a:avLst/>
          </a:prstGeom>
          <a:noFill/>
          <a:ln/>
        </p:spPr>
        <p:txBody>
          <a:bodyPr wrap="square" lIns="0" tIns="0" rIns="0" bIns="0" rtlCol="0" anchor="t"/>
          <a:lstStyle/>
          <a:p>
            <a:pPr algn="r" indent="0" marL="0">
              <a:buNone/>
            </a:pPr>
            <a:r>
              <a:rPr lang="en-US" sz="1300" b="1" dirty="0">
                <a:solidFill>
                  <a:srgbClr val="14211F"/>
                </a:solidFill>
                <a:latin typeface="Arial" pitchFamily="34" charset="0"/>
                <a:ea typeface="Arial" pitchFamily="34" charset="-122"/>
                <a:cs typeface="Arial" pitchFamily="34" charset="-120"/>
              </a:rPr>
              <a:t>First plan</a:t>
            </a:r>
            <a:endParaRPr lang="en-US" sz="1300" dirty="0"/>
          </a:p>
        </p:txBody>
      </p:sp>
      <p:sp>
        <p:nvSpPr>
          <p:cNvPr id="20" name="Text 18"/>
          <p:cNvSpPr txBox="1"/>
          <p:nvPr/>
        </p:nvSpPr>
        <p:spPr>
          <a:xfrm>
            <a:off x="6400800" y="3767328"/>
            <a:ext cx="2011680" cy="228600"/>
          </a:xfrm>
          <a:prstGeom prst="rect">
            <a:avLst/>
          </a:prstGeom>
          <a:noFill/>
          <a:ln/>
        </p:spPr>
        <p:txBody>
          <a:bodyPr wrap="square" lIns="0" tIns="0" rIns="0" bIns="0" rtlCol="0" anchor="t"/>
          <a:lstStyle/>
          <a:p>
            <a:pPr algn="r" indent="0" marL="0">
              <a:buNone/>
            </a:pPr>
            <a:r>
              <a:rPr lang="en-US" sz="1100" dirty="0">
                <a:solidFill>
                  <a:srgbClr val="9A5200"/>
                </a:solidFill>
                <a:latin typeface="Arial" pitchFamily="34" charset="0"/>
                <a:ea typeface="Arial" pitchFamily="34" charset="-122"/>
                <a:cs typeface="Arial" pitchFamily="34" charset="-120"/>
              </a:rPr>
              <a:t>rejected</a:t>
            </a:r>
            <a:endParaRPr lang="en-US" sz="1100" dirty="0"/>
          </a:p>
        </p:txBody>
      </p:sp>
      <p:sp>
        <p:nvSpPr>
          <p:cNvPr id="21" name="Shape 19"/>
          <p:cNvSpPr/>
          <p:nvPr/>
        </p:nvSpPr>
        <p:spPr>
          <a:xfrm>
            <a:off x="8503920" y="3557016"/>
            <a:ext cx="790042" cy="384048"/>
          </a:xfrm>
          <a:prstGeom prst="rect">
            <a:avLst/>
          </a:prstGeom>
          <a:solidFill>
            <a:srgbClr val="9A5200"/>
          </a:solidFill>
          <a:ln w="12700">
            <a:solidFill>
              <a:srgbClr val="9A5200"/>
            </a:solidFill>
            <a:prstDash val="solid"/>
          </a:ln>
        </p:spPr>
      </p:sp>
      <p:sp>
        <p:nvSpPr>
          <p:cNvPr id="22" name="Text 20"/>
          <p:cNvSpPr txBox="1"/>
          <p:nvPr/>
        </p:nvSpPr>
        <p:spPr>
          <a:xfrm>
            <a:off x="8503920" y="3557016"/>
            <a:ext cx="716890" cy="384048"/>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5.4%</a:t>
            </a:r>
            <a:endParaRPr lang="en-US" sz="1400" dirty="0"/>
          </a:p>
        </p:txBody>
      </p:sp>
      <p:sp>
        <p:nvSpPr>
          <p:cNvPr id="23" name="Text 21"/>
          <p:cNvSpPr txBox="1"/>
          <p:nvPr/>
        </p:nvSpPr>
        <p:spPr>
          <a:xfrm>
            <a:off x="6400800" y="4178808"/>
            <a:ext cx="2011680" cy="256032"/>
          </a:xfrm>
          <a:prstGeom prst="rect">
            <a:avLst/>
          </a:prstGeom>
          <a:noFill/>
          <a:ln/>
        </p:spPr>
        <p:txBody>
          <a:bodyPr wrap="square" lIns="0" tIns="0" rIns="0" bIns="0" rtlCol="0" anchor="t"/>
          <a:lstStyle/>
          <a:p>
            <a:pPr algn="r" indent="0" marL="0">
              <a:buNone/>
            </a:pPr>
            <a:r>
              <a:rPr lang="en-US" sz="1300" b="1" dirty="0">
                <a:solidFill>
                  <a:srgbClr val="14211F"/>
                </a:solidFill>
                <a:latin typeface="Arial" pitchFamily="34" charset="0"/>
                <a:ea typeface="Arial" pitchFamily="34" charset="-122"/>
                <a:cs typeface="Arial" pitchFamily="34" charset="-120"/>
              </a:rPr>
              <a:t>Revised plan</a:t>
            </a:r>
            <a:endParaRPr lang="en-US" sz="1300" dirty="0"/>
          </a:p>
        </p:txBody>
      </p:sp>
      <p:sp>
        <p:nvSpPr>
          <p:cNvPr id="24" name="Text 22"/>
          <p:cNvSpPr txBox="1"/>
          <p:nvPr/>
        </p:nvSpPr>
        <p:spPr>
          <a:xfrm>
            <a:off x="6400800" y="4425696"/>
            <a:ext cx="2011680" cy="228600"/>
          </a:xfrm>
          <a:prstGeom prst="rect">
            <a:avLst/>
          </a:prstGeom>
          <a:noFill/>
          <a:ln/>
        </p:spPr>
        <p:txBody>
          <a:bodyPr wrap="square" lIns="0" tIns="0" rIns="0" bIns="0" rtlCol="0" anchor="t"/>
          <a:lstStyle/>
          <a:p>
            <a:pPr algn="r" indent="0" marL="0">
              <a:buNone/>
            </a:pPr>
            <a:r>
              <a:rPr lang="en-US" sz="1100" dirty="0">
                <a:solidFill>
                  <a:srgbClr val="0D6B61"/>
                </a:solidFill>
                <a:latin typeface="Arial" pitchFamily="34" charset="0"/>
                <a:ea typeface="Arial" pitchFamily="34" charset="-122"/>
                <a:cs typeface="Arial" pitchFamily="34" charset="-120"/>
              </a:rPr>
              <a:t>passed</a:t>
            </a:r>
            <a:endParaRPr lang="en-US" sz="1100" dirty="0"/>
          </a:p>
        </p:txBody>
      </p:sp>
      <p:sp>
        <p:nvSpPr>
          <p:cNvPr id="25" name="Shape 23"/>
          <p:cNvSpPr/>
          <p:nvPr/>
        </p:nvSpPr>
        <p:spPr>
          <a:xfrm>
            <a:off x="8503920" y="4215384"/>
            <a:ext cx="2633472" cy="384048"/>
          </a:xfrm>
          <a:prstGeom prst="rect">
            <a:avLst/>
          </a:prstGeom>
          <a:solidFill>
            <a:srgbClr val="0D6B61"/>
          </a:solidFill>
          <a:ln w="12700">
            <a:solidFill>
              <a:srgbClr val="0D6B61"/>
            </a:solidFill>
            <a:prstDash val="solid"/>
          </a:ln>
        </p:spPr>
      </p:sp>
      <p:sp>
        <p:nvSpPr>
          <p:cNvPr id="26" name="Text 24"/>
          <p:cNvSpPr txBox="1"/>
          <p:nvPr/>
        </p:nvSpPr>
        <p:spPr>
          <a:xfrm>
            <a:off x="11210544" y="4215384"/>
            <a:ext cx="731520" cy="384048"/>
          </a:xfrm>
          <a:prstGeom prst="rect">
            <a:avLst/>
          </a:prstGeom>
          <a:noFill/>
          <a:ln/>
        </p:spPr>
        <p:txBody>
          <a:bodyPr wrap="square" lIns="0" tIns="0" rIns="0" bIns="0" rtlCol="0" anchor="ctr"/>
          <a:lstStyle/>
          <a:p>
            <a:pPr indent="0" marL="0">
              <a:buNone/>
            </a:pPr>
            <a:r>
              <a:rPr lang="en-US" sz="1400" b="1" dirty="0">
                <a:solidFill>
                  <a:srgbClr val="14211F"/>
                </a:solidFill>
                <a:latin typeface="Arial" pitchFamily="34" charset="0"/>
                <a:ea typeface="Arial" pitchFamily="34" charset="-122"/>
                <a:cs typeface="Arial" pitchFamily="34" charset="-120"/>
              </a:rPr>
              <a:t>18.0%</a:t>
            </a:r>
            <a:endParaRPr lang="en-US" sz="1400" dirty="0"/>
          </a:p>
        </p:txBody>
      </p:sp>
      <p:sp>
        <p:nvSpPr>
          <p:cNvPr id="27" name="Text 25"/>
          <p:cNvSpPr txBox="1"/>
          <p:nvPr/>
        </p:nvSpPr>
        <p:spPr>
          <a:xfrm>
            <a:off x="6400800" y="4837176"/>
            <a:ext cx="2011680" cy="256032"/>
          </a:xfrm>
          <a:prstGeom prst="rect">
            <a:avLst/>
          </a:prstGeom>
          <a:noFill/>
          <a:ln/>
        </p:spPr>
        <p:txBody>
          <a:bodyPr wrap="square" lIns="0" tIns="0" rIns="0" bIns="0" rtlCol="0" anchor="t"/>
          <a:lstStyle/>
          <a:p>
            <a:pPr algn="r" indent="0" marL="0">
              <a:buNone/>
            </a:pPr>
            <a:r>
              <a:rPr lang="en-US" sz="1300" b="1" dirty="0">
                <a:solidFill>
                  <a:srgbClr val="14211F"/>
                </a:solidFill>
                <a:latin typeface="Arial" pitchFamily="34" charset="0"/>
                <a:ea typeface="Arial" pitchFamily="34" charset="-122"/>
                <a:cs typeface="Arial" pitchFamily="34" charset="-120"/>
              </a:rPr>
              <a:t>Highest-need tracts</a:t>
            </a:r>
            <a:endParaRPr lang="en-US" sz="1300" dirty="0"/>
          </a:p>
        </p:txBody>
      </p:sp>
      <p:sp>
        <p:nvSpPr>
          <p:cNvPr id="28" name="Text 26"/>
          <p:cNvSpPr txBox="1"/>
          <p:nvPr/>
        </p:nvSpPr>
        <p:spPr>
          <a:xfrm>
            <a:off x="6400800" y="5084064"/>
            <a:ext cx="2011680" cy="228600"/>
          </a:xfrm>
          <a:prstGeom prst="rect">
            <a:avLst/>
          </a:prstGeom>
          <a:noFill/>
          <a:ln/>
        </p:spPr>
        <p:txBody>
          <a:bodyPr wrap="square" lIns="0" tIns="0" rIns="0" bIns="0" rtlCol="0" anchor="t"/>
          <a:lstStyle/>
          <a:p>
            <a:pPr algn="r" indent="0" marL="0">
              <a:buNone/>
            </a:pPr>
            <a:r>
              <a:rPr lang="en-US" sz="1100" dirty="0">
                <a:solidFill>
                  <a:srgbClr val="56645F"/>
                </a:solidFill>
                <a:latin typeface="Arial" pitchFamily="34" charset="0"/>
                <a:ea typeface="Arial" pitchFamily="34" charset="-122"/>
                <a:cs typeface="Arial" pitchFamily="34" charset="-120"/>
              </a:rPr>
              <a:t>the benchmark</a:t>
            </a:r>
            <a:endParaRPr lang="en-US" sz="1100" dirty="0"/>
          </a:p>
        </p:txBody>
      </p:sp>
      <p:sp>
        <p:nvSpPr>
          <p:cNvPr id="29" name="Shape 27"/>
          <p:cNvSpPr/>
          <p:nvPr/>
        </p:nvSpPr>
        <p:spPr>
          <a:xfrm>
            <a:off x="8503920" y="4873752"/>
            <a:ext cx="1960474" cy="384048"/>
          </a:xfrm>
          <a:prstGeom prst="rect">
            <a:avLst/>
          </a:prstGeom>
          <a:solidFill>
            <a:srgbClr val="9AA8A3"/>
          </a:solidFill>
          <a:ln w="12700">
            <a:solidFill>
              <a:srgbClr val="9AA8A3"/>
            </a:solidFill>
            <a:prstDash val="solid"/>
          </a:ln>
        </p:spPr>
      </p:sp>
      <p:sp>
        <p:nvSpPr>
          <p:cNvPr id="30" name="Text 28"/>
          <p:cNvSpPr txBox="1"/>
          <p:nvPr/>
        </p:nvSpPr>
        <p:spPr>
          <a:xfrm>
            <a:off x="10537546" y="4873752"/>
            <a:ext cx="731520" cy="384048"/>
          </a:xfrm>
          <a:prstGeom prst="rect">
            <a:avLst/>
          </a:prstGeom>
          <a:noFill/>
          <a:ln/>
        </p:spPr>
        <p:txBody>
          <a:bodyPr wrap="square" lIns="0" tIns="0" rIns="0" bIns="0" rtlCol="0" anchor="ctr"/>
          <a:lstStyle/>
          <a:p>
            <a:pPr indent="0" marL="0">
              <a:buNone/>
            </a:pPr>
            <a:r>
              <a:rPr lang="en-US" sz="1400" b="1" dirty="0">
                <a:solidFill>
                  <a:srgbClr val="14211F"/>
                </a:solidFill>
                <a:latin typeface="Arial" pitchFamily="34" charset="0"/>
                <a:ea typeface="Arial" pitchFamily="34" charset="-122"/>
                <a:cs typeface="Arial" pitchFamily="34" charset="-120"/>
              </a:rPr>
              <a:t>13.4%</a:t>
            </a:r>
            <a:endParaRPr lang="en-US" sz="1400" dirty="0"/>
          </a:p>
        </p:txBody>
      </p:sp>
      <p:sp>
        <p:nvSpPr>
          <p:cNvPr id="31" name="Shape 29"/>
          <p:cNvSpPr/>
          <p:nvPr/>
        </p:nvSpPr>
        <p:spPr>
          <a:xfrm>
            <a:off x="9484157" y="3429000"/>
            <a:ext cx="914" cy="2011680"/>
          </a:xfrm>
          <a:prstGeom prst="line">
            <a:avLst/>
          </a:prstGeom>
          <a:noFill/>
          <a:ln w="19050">
            <a:solidFill>
              <a:srgbClr val="9A5200"/>
            </a:solidFill>
            <a:prstDash val="dash"/>
          </a:ln>
        </p:spPr>
      </p:sp>
      <p:sp>
        <p:nvSpPr>
          <p:cNvPr id="32" name="Text 30"/>
          <p:cNvSpPr txBox="1"/>
          <p:nvPr/>
        </p:nvSpPr>
        <p:spPr>
          <a:xfrm>
            <a:off x="8478317" y="5486400"/>
            <a:ext cx="3108960" cy="274320"/>
          </a:xfrm>
          <a:prstGeom prst="rect">
            <a:avLst/>
          </a:prstGeom>
          <a:noFill/>
          <a:ln/>
        </p:spPr>
        <p:txBody>
          <a:bodyPr wrap="square" lIns="0" tIns="0" rIns="0" bIns="0" rtlCol="0" anchor="t"/>
          <a:lstStyle/>
          <a:p>
            <a:pPr indent="0" marL="0">
              <a:buNone/>
            </a:pPr>
            <a:r>
              <a:rPr lang="en-US" sz="1100" b="1" dirty="0">
                <a:solidFill>
                  <a:srgbClr val="9A5200"/>
                </a:solidFill>
                <a:latin typeface="Arial" pitchFamily="34" charset="0"/>
                <a:ea typeface="Arial" pitchFamily="34" charset="-122"/>
                <a:cs typeface="Arial" pitchFamily="34" charset="-120"/>
              </a:rPr>
              <a:t>Rejection line: under 6.7%, half the benchmark</a:t>
            </a:r>
            <a:endParaRPr lang="en-US" sz="1100" dirty="0"/>
          </a:p>
        </p:txBody>
      </p:sp>
      <p:sp>
        <p:nvSpPr>
          <p:cNvPr id="33" name="Text 31"/>
          <p:cNvSpPr txBox="1"/>
          <p:nvPr/>
        </p:nvSpPr>
        <p:spPr>
          <a:xfrm>
            <a:off x="6400800" y="5779008"/>
            <a:ext cx="5212080" cy="411480"/>
          </a:xfrm>
          <a:prstGeom prst="rect">
            <a:avLst/>
          </a:prstGeom>
          <a:noFill/>
          <a:ln/>
        </p:spPr>
        <p:txBody>
          <a:bodyPr wrap="square" lIns="0" tIns="0" rIns="0" bIns="0" rtlCol="0" anchor="t"/>
          <a:lstStyle/>
          <a:p>
            <a:pPr indent="0" marL="0">
              <a:buNone/>
            </a:pPr>
            <a:r>
              <a:rPr lang="en-US" sz="1050" dirty="0">
                <a:solidFill>
                  <a:srgbClr val="56645F"/>
                </a:solidFill>
                <a:latin typeface="Arial" pitchFamily="34" charset="0"/>
                <a:ea typeface="Arial" pitchFamily="34" charset="-122"/>
                <a:cs typeface="Arial" pitchFamily="34" charset="-120"/>
              </a:rPr>
              <a:t>Older adults are 12.4% of the whole county. Round 2 shares vary from run to run, because the reviser picks its own weights.</a:t>
            </a:r>
            <a:endParaRPr lang="en-US" sz="10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t"/>
          <a:lstStyle/>
          <a:p>
            <a:pPr algn="l" indent="0" marL="0">
              <a:buNone/>
            </a:pPr>
            <a:r>
              <a:rPr lang="en-US" sz="3000" b="1" dirty="0">
                <a:solidFill>
                  <a:srgbClr val="14211F"/>
                </a:solidFill>
                <a:latin typeface="Arial" pitchFamily="34" charset="0"/>
                <a:ea typeface="Arial" pitchFamily="34" charset="-122"/>
                <a:cs typeface="Arial" pitchFamily="34" charset="-120"/>
              </a:rPr>
              <a:t>Who it serves: the neighborhood and the funder</a:t>
            </a:r>
            <a:endParaRPr lang="en-US" sz="3000" dirty="0"/>
          </a:p>
        </p:txBody>
      </p:sp>
      <p:pic>
        <p:nvPicPr>
          <p:cNvPr id="3" name="Image 0" descr="/private/tmp/claude-503/-Users-T956736-Documents-hack-gemini-Public-health-05/1d4f1ed3-cd71-4935-95a0-977112d4e0ad/scratchpad/deck/img/flyer.png">    </p:cNvPr>
          <p:cNvPicPr>
            <a:picLocks noChangeAspect="1"/>
          </p:cNvPicPr>
          <p:nvPr/>
        </p:nvPicPr>
        <p:blipFill>
          <a:blip r:embed="rId1"/>
          <a:stretch>
            <a:fillRect/>
          </a:stretch>
        </p:blipFill>
        <p:spPr>
          <a:xfrm>
            <a:off x="548640" y="1280160"/>
            <a:ext cx="2834640" cy="3657600"/>
          </a:xfrm>
          <a:prstGeom prst="rect">
            <a:avLst/>
          </a:prstGeom>
          <a:effectLst>
            <a:outerShdw sx="100000" sy="100000" kx="0" ky="0" algn="bl" rotWithShape="0" blurRad="76200" dist="25400" dir="5400000">
              <a:srgbClr val="000000">
                <a:alpha val="12000"/>
              </a:srgbClr>
            </a:outerShdw>
          </a:effectLst>
        </p:spPr>
      </p:pic>
      <p:sp>
        <p:nvSpPr>
          <p:cNvPr id="4" name="Text 1"/>
          <p:cNvSpPr txBox="1"/>
          <p:nvPr/>
        </p:nvSpPr>
        <p:spPr>
          <a:xfrm>
            <a:off x="548640" y="5029200"/>
            <a:ext cx="2834640" cy="685800"/>
          </a:xfrm>
          <a:prstGeom prst="rect">
            <a:avLst/>
          </a:prstGeom>
          <a:noFill/>
          <a:ln/>
        </p:spPr>
        <p:txBody>
          <a:bodyPr wrap="square" lIns="0" tIns="0" rIns="0" bIns="0" rtlCol="0" anchor="t"/>
          <a:lstStyle/>
          <a:p>
            <a:pPr indent="0" marL="0">
              <a:buNone/>
            </a:pPr>
            <a:r>
              <a:rPr lang="en-US" sz="1100" dirty="0">
                <a:solidFill>
                  <a:srgbClr val="56645F"/>
                </a:solidFill>
                <a:latin typeface="Arial" pitchFamily="34" charset="0"/>
                <a:ea typeface="Arial" pitchFamily="34" charset="-122"/>
                <a:cs typeface="Arial" pitchFamily="34" charset="-120"/>
              </a:rPr>
              <a:t>Printable flyer · English above the fold, Spanish below; dates and clinics filled in by code</a:t>
            </a:r>
            <a:endParaRPr lang="en-US" sz="1100" dirty="0"/>
          </a:p>
        </p:txBody>
      </p:sp>
      <p:pic>
        <p:nvPicPr>
          <p:cNvPr id="5" name="Image 1" descr="/private/tmp/claude-503/-Users-T956736-Documents-hack-gemini-Public-health-05/1d4f1ed3-cd71-4935-95a0-977112d4e0ad/scratchpad/deck/img/community.png">    </p:cNvPr>
          <p:cNvPicPr>
            <a:picLocks noChangeAspect="1"/>
          </p:cNvPicPr>
          <p:nvPr/>
        </p:nvPicPr>
        <p:blipFill>
          <a:blip r:embed="rId2"/>
          <a:stretch>
            <a:fillRect/>
          </a:stretch>
        </p:blipFill>
        <p:spPr>
          <a:xfrm>
            <a:off x="3657600" y="1280160"/>
            <a:ext cx="4480560" cy="3026664"/>
          </a:xfrm>
          <a:prstGeom prst="rect">
            <a:avLst/>
          </a:prstGeom>
          <a:effectLst>
            <a:outerShdw sx="100000" sy="100000" kx="0" ky="0" algn="bl" rotWithShape="0" blurRad="76200" dist="25400" dir="5400000">
              <a:srgbClr val="000000">
                <a:alpha val="12000"/>
              </a:srgbClr>
            </a:outerShdw>
          </a:effectLst>
        </p:spPr>
      </p:pic>
      <p:sp>
        <p:nvSpPr>
          <p:cNvPr id="6" name="Text 2"/>
          <p:cNvSpPr txBox="1"/>
          <p:nvPr/>
        </p:nvSpPr>
        <p:spPr>
          <a:xfrm>
            <a:off x="3657600" y="4389120"/>
            <a:ext cx="4480560" cy="274320"/>
          </a:xfrm>
          <a:prstGeom prst="rect">
            <a:avLst/>
          </a:prstGeom>
          <a:noFill/>
          <a:ln/>
        </p:spPr>
        <p:txBody>
          <a:bodyPr wrap="square" lIns="0" tIns="0" rIns="0" bIns="0" rtlCol="0" anchor="t"/>
          <a:lstStyle/>
          <a:p>
            <a:pPr indent="0" marL="0">
              <a:buNone/>
            </a:pPr>
            <a:r>
              <a:rPr lang="en-US" sz="1100" dirty="0">
                <a:solidFill>
                  <a:srgbClr val="56645F"/>
                </a:solidFill>
                <a:latin typeface="Arial" pitchFamily="34" charset="0"/>
                <a:ea typeface="Arial" pitchFamily="34" charset="-122"/>
                <a:cs typeface="Arial" pitchFamily="34" charset="-120"/>
              </a:rPr>
              <a:t>Community page · residents tap their area and ask by text or voice</a:t>
            </a:r>
            <a:endParaRPr lang="en-US" sz="1100" dirty="0"/>
          </a:p>
        </p:txBody>
      </p:sp>
      <p:sp>
        <p:nvSpPr>
          <p:cNvPr id="7" name="Shape 3"/>
          <p:cNvSpPr/>
          <p:nvPr/>
        </p:nvSpPr>
        <p:spPr>
          <a:xfrm>
            <a:off x="3657600" y="4754880"/>
            <a:ext cx="4480560" cy="1234440"/>
          </a:xfrm>
          <a:prstGeom prst="roundRect">
            <a:avLst>
              <a:gd name="adj" fmla="val 8889"/>
            </a:avLst>
          </a:prstGeom>
          <a:solidFill>
            <a:srgbClr val="F4F7F6"/>
          </a:solidFill>
          <a:ln w="12700">
            <a:solidFill>
              <a:srgbClr val="F4F7F6"/>
            </a:solidFill>
            <a:prstDash val="solid"/>
          </a:ln>
        </p:spPr>
      </p:sp>
      <p:sp>
        <p:nvSpPr>
          <p:cNvPr id="8" name="Text 4"/>
          <p:cNvSpPr txBox="1"/>
          <p:nvPr/>
        </p:nvSpPr>
        <p:spPr>
          <a:xfrm>
            <a:off x="3840480" y="4846320"/>
            <a:ext cx="4160520" cy="1097280"/>
          </a:xfrm>
          <a:prstGeom prst="rect">
            <a:avLst/>
          </a:prstGeom>
          <a:noFill/>
          <a:ln/>
        </p:spPr>
        <p:txBody>
          <a:bodyPr wrap="square" lIns="0" tIns="0" rIns="0" bIns="0" rtlCol="0" anchor="t"/>
          <a:lstStyle/>
          <a:p>
            <a:pPr indent="0" marL="0">
              <a:buNone/>
            </a:pPr>
            <a:r>
              <a:rPr lang="en-US" sz="1250" b="1" dirty="0">
                <a:solidFill>
                  <a:srgbClr val="14211F"/>
                </a:solidFill>
                <a:latin typeface="Arial" pitchFamily="34" charset="0"/>
                <a:ea typeface="Arial" pitchFamily="34" charset="-122"/>
                <a:cs typeface="Arial" pitchFamily="34" charset="-120"/>
              </a:rPr>
              <a:t>Live voice: </a:t>
            </a:r>
            <a:pPr indent="0" marL="0">
              <a:buNone/>
            </a:pPr>
            <a:r>
              <a:rPr lang="en-US" sz="1250" i="1" dirty="0">
                <a:solidFill>
                  <a:srgbClr val="14211F"/>
                </a:solidFill>
                <a:latin typeface="Arial" pitchFamily="34" charset="0"/>
                <a:ea typeface="Arial" pitchFamily="34" charset="-122"/>
                <a:cs typeface="Arial" pitchFamily="34" charset="-120"/>
              </a:rPr>
              <a:t>"The van won't be in your neighborhood this month, but it will be stopping on Saturday, November 21st, about 5 kilometers away. No, you don't need insurance."</a:t>
            </a:r>
            <a:endParaRPr lang="en-US" sz="1250" dirty="0"/>
          </a:p>
        </p:txBody>
      </p:sp>
      <p:sp>
        <p:nvSpPr>
          <p:cNvPr id="9" name="Shape 5"/>
          <p:cNvSpPr/>
          <p:nvPr/>
        </p:nvSpPr>
        <p:spPr>
          <a:xfrm>
            <a:off x="8412480" y="1280160"/>
            <a:ext cx="3200400" cy="2514600"/>
          </a:xfrm>
          <a:prstGeom prst="roundRect">
            <a:avLst>
              <a:gd name="adj" fmla="val 4364"/>
            </a:avLst>
          </a:prstGeom>
          <a:solidFill>
            <a:srgbClr val="0A3F39"/>
          </a:solidFill>
          <a:ln w="12700">
            <a:solidFill>
              <a:srgbClr val="0A3F39"/>
            </a:solidFill>
            <a:prstDash val="solid"/>
          </a:ln>
        </p:spPr>
      </p:sp>
      <p:sp>
        <p:nvSpPr>
          <p:cNvPr id="10" name="Text 6"/>
          <p:cNvSpPr txBox="1"/>
          <p:nvPr/>
        </p:nvSpPr>
        <p:spPr>
          <a:xfrm>
            <a:off x="8641080" y="1463040"/>
            <a:ext cx="2834640" cy="868680"/>
          </a:xfrm>
          <a:prstGeom prst="rect">
            <a:avLst/>
          </a:prstGeom>
          <a:noFill/>
          <a:ln/>
        </p:spPr>
        <p:txBody>
          <a:bodyPr wrap="square" lIns="0" tIns="0" rIns="0" bIns="0" rtlCol="0" anchor="t"/>
          <a:lstStyle/>
          <a:p>
            <a:pPr indent="0" marL="0">
              <a:buNone/>
            </a:pPr>
            <a:r>
              <a:rPr lang="en-US" sz="5200" b="1" dirty="0">
                <a:solidFill>
                  <a:srgbClr val="FFFFFF"/>
                </a:solidFill>
                <a:latin typeface="Arial" pitchFamily="34" charset="0"/>
                <a:ea typeface="Arial" pitchFamily="34" charset="-122"/>
                <a:cs typeface="Arial" pitchFamily="34" charset="-120"/>
              </a:rPr>
              <a:t>6.5%</a:t>
            </a:r>
            <a:endParaRPr lang="en-US" sz="5200" dirty="0"/>
          </a:p>
        </p:txBody>
      </p:sp>
      <p:sp>
        <p:nvSpPr>
          <p:cNvPr id="11" name="Text 7"/>
          <p:cNvSpPr txBox="1"/>
          <p:nvPr/>
        </p:nvSpPr>
        <p:spPr>
          <a:xfrm>
            <a:off x="8641080" y="2377440"/>
            <a:ext cx="2788920" cy="1325880"/>
          </a:xfrm>
          <a:prstGeom prst="rect">
            <a:avLst/>
          </a:prstGeom>
          <a:noFill/>
          <a:ln/>
        </p:spPr>
        <p:txBody>
          <a:bodyPr wrap="square" lIns="0" tIns="0" rIns="0" bIns="0" rtlCol="0" anchor="t"/>
          <a:lstStyle/>
          <a:p>
            <a:pPr indent="0" marL="0">
              <a:buNone/>
            </a:pPr>
            <a:r>
              <a:rPr lang="en-US" sz="1300" dirty="0">
                <a:solidFill>
                  <a:srgbClr val="D7EFE9"/>
                </a:solidFill>
                <a:latin typeface="Arial" pitchFamily="34" charset="0"/>
                <a:ea typeface="Arial" pitchFamily="34" charset="-122"/>
                <a:cs typeface="Arial" pitchFamily="34" charset="-120"/>
              </a:rPr>
              <a:t>of the 240,709 people in the highest-need tracts live in the four stop tracts. The funder statement says so plainly.</a:t>
            </a:r>
            <a:endParaRPr lang="en-US" sz="1300" dirty="0"/>
          </a:p>
        </p:txBody>
      </p:sp>
      <p:sp>
        <p:nvSpPr>
          <p:cNvPr id="12" name="Text 8"/>
          <p:cNvSpPr txBox="1"/>
          <p:nvPr/>
        </p:nvSpPr>
        <p:spPr>
          <a:xfrm>
            <a:off x="8412480" y="4023360"/>
            <a:ext cx="3200400" cy="274320"/>
          </a:xfrm>
          <a:prstGeom prst="rect">
            <a:avLst/>
          </a:prstGeom>
          <a:noFill/>
          <a:ln/>
        </p:spPr>
        <p:txBody>
          <a:bodyPr wrap="square" lIns="0" tIns="0" rIns="0" bIns="0" rtlCol="0" anchor="t"/>
          <a:lstStyle/>
          <a:p>
            <a:pPr indent="0" marL="0">
              <a:buNone/>
            </a:pPr>
            <a:r>
              <a:rPr lang="en-US" sz="1300" b="1" dirty="0">
                <a:solidFill>
                  <a:srgbClr val="0D6B61"/>
                </a:solidFill>
                <a:latin typeface="Arial" pitchFamily="34" charset="0"/>
                <a:ea typeface="Arial" pitchFamily="34" charset="-122"/>
                <a:cs typeface="Arial" pitchFamily="34" charset="-120"/>
              </a:rPr>
              <a:t>Spanish, naturally</a:t>
            </a:r>
            <a:endParaRPr lang="en-US" sz="1300" dirty="0"/>
          </a:p>
        </p:txBody>
      </p:sp>
      <p:sp>
        <p:nvSpPr>
          <p:cNvPr id="13" name="Text 9"/>
          <p:cNvSpPr txBox="1"/>
          <p:nvPr/>
        </p:nvSpPr>
        <p:spPr>
          <a:xfrm>
            <a:off x="8412480" y="4297680"/>
            <a:ext cx="3200400" cy="384048"/>
          </a:xfrm>
          <a:prstGeom prst="rect">
            <a:avLst/>
          </a:prstGeom>
          <a:noFill/>
          <a:ln/>
        </p:spPr>
        <p:txBody>
          <a:bodyPr wrap="square" lIns="0" tIns="0" rIns="0" bIns="0" rtlCol="0" anchor="t"/>
          <a:lstStyle/>
          <a:p>
            <a:pPr indent="0" marL="0">
              <a:buNone/>
            </a:pPr>
            <a:r>
              <a:rPr lang="en-US" sz="1200" dirty="0">
                <a:solidFill>
                  <a:srgbClr val="14211F"/>
                </a:solidFill>
                <a:latin typeface="Arial" pitchFamily="34" charset="0"/>
                <a:ea typeface="Arial" pitchFamily="34" charset="-122"/>
                <a:cs typeface="Arial" pitchFamily="34" charset="-120"/>
              </a:rPr>
              <a:t>Answers in the resident's language.</a:t>
            </a:r>
            <a:endParaRPr lang="en-US" sz="1200" dirty="0"/>
          </a:p>
        </p:txBody>
      </p:sp>
      <p:sp>
        <p:nvSpPr>
          <p:cNvPr id="14" name="Text 10"/>
          <p:cNvSpPr txBox="1"/>
          <p:nvPr/>
        </p:nvSpPr>
        <p:spPr>
          <a:xfrm>
            <a:off x="8412480" y="4709160"/>
            <a:ext cx="3200400" cy="274320"/>
          </a:xfrm>
          <a:prstGeom prst="rect">
            <a:avLst/>
          </a:prstGeom>
          <a:noFill/>
          <a:ln/>
        </p:spPr>
        <p:txBody>
          <a:bodyPr wrap="square" lIns="0" tIns="0" rIns="0" bIns="0" rtlCol="0" anchor="t"/>
          <a:lstStyle/>
          <a:p>
            <a:pPr indent="0" marL="0">
              <a:buNone/>
            </a:pPr>
            <a:r>
              <a:rPr lang="en-US" sz="1300" b="1" dirty="0">
                <a:solidFill>
                  <a:srgbClr val="0D6B61"/>
                </a:solidFill>
                <a:latin typeface="Arial" pitchFamily="34" charset="0"/>
                <a:ea typeface="Arial" pitchFamily="34" charset="-122"/>
                <a:cs typeface="Arial" pitchFamily="34" charset="-120"/>
              </a:rPr>
              <a:t>Never medical advice</a:t>
            </a:r>
            <a:endParaRPr lang="en-US" sz="1300" dirty="0"/>
          </a:p>
        </p:txBody>
      </p:sp>
      <p:sp>
        <p:nvSpPr>
          <p:cNvPr id="15" name="Text 11"/>
          <p:cNvSpPr txBox="1"/>
          <p:nvPr/>
        </p:nvSpPr>
        <p:spPr>
          <a:xfrm>
            <a:off x="8412480" y="4983480"/>
            <a:ext cx="3200400" cy="384048"/>
          </a:xfrm>
          <a:prstGeom prst="rect">
            <a:avLst/>
          </a:prstGeom>
          <a:noFill/>
          <a:ln/>
        </p:spPr>
        <p:txBody>
          <a:bodyPr wrap="square" lIns="0" tIns="0" rIns="0" bIns="0" rtlCol="0" anchor="t"/>
          <a:lstStyle/>
          <a:p>
            <a:pPr indent="0" marL="0">
              <a:buNone/>
            </a:pPr>
            <a:r>
              <a:rPr lang="en-US" sz="1200" dirty="0">
                <a:solidFill>
                  <a:srgbClr val="14211F"/>
                </a:solidFill>
                <a:latin typeface="Arial" pitchFamily="34" charset="0"/>
                <a:ea typeface="Arial" pitchFamily="34" charset="-122"/>
                <a:cs typeface="Arial" pitchFamily="34" charset="-120"/>
              </a:rPr>
              <a:t>"Chest pain…" gets "Please call 911 right now."</a:t>
            </a:r>
            <a:endParaRPr lang="en-US" sz="1200" dirty="0"/>
          </a:p>
        </p:txBody>
      </p:sp>
      <p:sp>
        <p:nvSpPr>
          <p:cNvPr id="16" name="Text 12"/>
          <p:cNvSpPr txBox="1"/>
          <p:nvPr/>
        </p:nvSpPr>
        <p:spPr>
          <a:xfrm>
            <a:off x="8412480" y="5394960"/>
            <a:ext cx="3200400" cy="274320"/>
          </a:xfrm>
          <a:prstGeom prst="rect">
            <a:avLst/>
          </a:prstGeom>
          <a:noFill/>
          <a:ln/>
        </p:spPr>
        <p:txBody>
          <a:bodyPr wrap="square" lIns="0" tIns="0" rIns="0" bIns="0" rtlCol="0" anchor="t"/>
          <a:lstStyle/>
          <a:p>
            <a:pPr indent="0" marL="0">
              <a:buNone/>
            </a:pPr>
            <a:r>
              <a:rPr lang="en-US" sz="1300" b="1" dirty="0">
                <a:solidFill>
                  <a:srgbClr val="0D6B61"/>
                </a:solidFill>
                <a:latin typeface="Arial" pitchFamily="34" charset="0"/>
                <a:ea typeface="Arial" pitchFamily="34" charset="-122"/>
                <a:cs typeface="Arial" pitchFamily="34" charset="-120"/>
              </a:rPr>
              <a:t>Only the area is shared</a:t>
            </a:r>
            <a:endParaRPr lang="en-US" sz="1300" dirty="0"/>
          </a:p>
        </p:txBody>
      </p:sp>
      <p:sp>
        <p:nvSpPr>
          <p:cNvPr id="17" name="Text 13"/>
          <p:cNvSpPr txBox="1"/>
          <p:nvPr/>
        </p:nvSpPr>
        <p:spPr>
          <a:xfrm>
            <a:off x="8412480" y="5669280"/>
            <a:ext cx="3200400" cy="384048"/>
          </a:xfrm>
          <a:prstGeom prst="rect">
            <a:avLst/>
          </a:prstGeom>
          <a:noFill/>
          <a:ln/>
        </p:spPr>
        <p:txBody>
          <a:bodyPr wrap="square" lIns="0" tIns="0" rIns="0" bIns="0" rtlCol="0" anchor="t"/>
          <a:lstStyle/>
          <a:p>
            <a:pPr indent="0" marL="0">
              <a:buNone/>
            </a:pPr>
            <a:r>
              <a:rPr lang="en-US" sz="1200" dirty="0">
                <a:solidFill>
                  <a:srgbClr val="14211F"/>
                </a:solidFill>
                <a:latin typeface="Arial" pitchFamily="34" charset="0"/>
                <a:ea typeface="Arial" pitchFamily="34" charset="-122"/>
                <a:cs typeface="Arial" pitchFamily="34" charset="-120"/>
              </a:rPr>
              <a:t>No name, address or health details.</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t"/>
          <a:lstStyle/>
          <a:p>
            <a:pPr algn="l" indent="0" marL="0">
              <a:buNone/>
            </a:pPr>
            <a:r>
              <a:rPr lang="en-US" sz="3000" b="1" dirty="0">
                <a:solidFill>
                  <a:srgbClr val="14211F"/>
                </a:solidFill>
                <a:latin typeface="Arial" pitchFamily="34" charset="0"/>
                <a:ea typeface="Arial" pitchFamily="34" charset="-122"/>
                <a:cs typeface="Arial" pitchFamily="34" charset="-120"/>
              </a:rPr>
              <a:t>The four questions, our limits, and what's next</a:t>
            </a:r>
            <a:endParaRPr lang="en-US" sz="3000" dirty="0"/>
          </a:p>
        </p:txBody>
      </p:sp>
      <p:sp>
        <p:nvSpPr>
          <p:cNvPr id="3" name="Shape 1"/>
          <p:cNvSpPr/>
          <p:nvPr/>
        </p:nvSpPr>
        <p:spPr>
          <a:xfrm>
            <a:off x="548640" y="1280160"/>
            <a:ext cx="2633472" cy="2240280"/>
          </a:xfrm>
          <a:prstGeom prst="roundRect">
            <a:avLst>
              <a:gd name="adj" fmla="val 4898"/>
            </a:avLst>
          </a:prstGeom>
          <a:solidFill>
            <a:srgbClr val="FFFFFF"/>
          </a:solidFill>
          <a:ln w="12700">
            <a:solidFill>
              <a:srgbClr val="C7D2CE"/>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31520" y="1463040"/>
            <a:ext cx="384048" cy="384048"/>
          </a:xfrm>
          <a:prstGeom prst="ellipse">
            <a:avLst/>
          </a:prstGeom>
          <a:solidFill>
            <a:srgbClr val="0D6B61"/>
          </a:solidFill>
          <a:ln w="12700">
            <a:solidFill>
              <a:srgbClr val="0D6B61"/>
            </a:solidFill>
            <a:prstDash val="solid"/>
          </a:ln>
        </p:spPr>
      </p:sp>
      <p:sp>
        <p:nvSpPr>
          <p:cNvPr id="5" name="Text 3"/>
          <p:cNvSpPr txBox="1"/>
          <p:nvPr/>
        </p:nvSpPr>
        <p:spPr>
          <a:xfrm>
            <a:off x="731520" y="1463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234440" y="1463040"/>
            <a:ext cx="1810512" cy="457200"/>
          </a:xfrm>
          <a:prstGeom prst="rect">
            <a:avLst/>
          </a:prstGeom>
          <a:noFill/>
          <a:ln/>
        </p:spPr>
        <p:txBody>
          <a:bodyPr wrap="square" lIns="0" tIns="0" rIns="0" bIns="0" rtlCol="0" anchor="ctr"/>
          <a:lstStyle/>
          <a:p>
            <a:pPr indent="0" marL="0">
              <a:buNone/>
            </a:pPr>
            <a:r>
              <a:rPr lang="en-US" sz="1350" b="1" dirty="0">
                <a:solidFill>
                  <a:srgbClr val="14211F"/>
                </a:solidFill>
                <a:latin typeface="Arial" pitchFamily="34" charset="0"/>
                <a:ea typeface="Arial" pitchFamily="34" charset="-122"/>
                <a:cs typeface="Arial" pitchFamily="34" charset="-120"/>
              </a:rPr>
              <a:t>Delete any one agent?</a:t>
            </a:r>
            <a:endParaRPr lang="en-US" sz="1350" dirty="0"/>
          </a:p>
        </p:txBody>
      </p:sp>
      <p:sp>
        <p:nvSpPr>
          <p:cNvPr id="7" name="Text 5"/>
          <p:cNvSpPr txBox="1"/>
          <p:nvPr/>
        </p:nvSpPr>
        <p:spPr>
          <a:xfrm>
            <a:off x="731520" y="2011680"/>
            <a:ext cx="2286000" cy="1417320"/>
          </a:xfrm>
          <a:prstGeom prst="rect">
            <a:avLst/>
          </a:prstGeom>
          <a:noFill/>
          <a:ln/>
        </p:spPr>
        <p:txBody>
          <a:bodyPr wrap="square" lIns="0" tIns="0" rIns="0" bIns="0" rtlCol="0" anchor="t"/>
          <a:lstStyle/>
          <a:p>
            <a:pPr indent="0" marL="0">
              <a:buNone/>
            </a:pPr>
            <a:r>
              <a:rPr lang="en-US" sz="1250" dirty="0">
                <a:solidFill>
                  <a:srgbClr val="14211F"/>
                </a:solidFill>
                <a:latin typeface="Arial" pitchFamily="34" charset="0"/>
                <a:ea typeface="Arial" pitchFamily="34" charset="-122"/>
                <a:cs typeface="Arial" pitchFamily="34" charset="-120"/>
              </a:rPr>
              <a:t>It gets worse. No reviewer: "only white neighborhoods" reaches the planner. No auditor: the 65+ gap ships.</a:t>
            </a:r>
            <a:endParaRPr lang="en-US" sz="1250" dirty="0"/>
          </a:p>
        </p:txBody>
      </p:sp>
      <p:sp>
        <p:nvSpPr>
          <p:cNvPr id="8" name="Shape 6"/>
          <p:cNvSpPr/>
          <p:nvPr/>
        </p:nvSpPr>
        <p:spPr>
          <a:xfrm>
            <a:off x="3364992" y="1280160"/>
            <a:ext cx="2633472" cy="2240280"/>
          </a:xfrm>
          <a:prstGeom prst="roundRect">
            <a:avLst>
              <a:gd name="adj" fmla="val 4898"/>
            </a:avLst>
          </a:prstGeom>
          <a:solidFill>
            <a:srgbClr val="FFFFFF"/>
          </a:solidFill>
          <a:ln w="12700">
            <a:solidFill>
              <a:srgbClr val="C7D2CE"/>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3547872" y="1463040"/>
            <a:ext cx="384048" cy="384048"/>
          </a:xfrm>
          <a:prstGeom prst="ellipse">
            <a:avLst/>
          </a:prstGeom>
          <a:solidFill>
            <a:srgbClr val="0D6B61"/>
          </a:solidFill>
          <a:ln w="12700">
            <a:solidFill>
              <a:srgbClr val="0D6B61"/>
            </a:solidFill>
            <a:prstDash val="solid"/>
          </a:ln>
        </p:spPr>
      </p:sp>
      <p:sp>
        <p:nvSpPr>
          <p:cNvPr id="10" name="Text 8"/>
          <p:cNvSpPr txBox="1"/>
          <p:nvPr/>
        </p:nvSpPr>
        <p:spPr>
          <a:xfrm>
            <a:off x="3547872" y="1463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4050792" y="1463040"/>
            <a:ext cx="1810512" cy="457200"/>
          </a:xfrm>
          <a:prstGeom prst="rect">
            <a:avLst/>
          </a:prstGeom>
          <a:noFill/>
          <a:ln/>
        </p:spPr>
        <p:txBody>
          <a:bodyPr wrap="square" lIns="0" tIns="0" rIns="0" bIns="0" rtlCol="0" anchor="ctr"/>
          <a:lstStyle/>
          <a:p>
            <a:pPr indent="0" marL="0">
              <a:buNone/>
            </a:pPr>
            <a:r>
              <a:rPr lang="en-US" sz="1350" b="1" dirty="0">
                <a:solidFill>
                  <a:srgbClr val="14211F"/>
                </a:solidFill>
                <a:latin typeface="Arial" pitchFamily="34" charset="0"/>
                <a:ea typeface="Arial" pitchFamily="34" charset="-122"/>
                <a:cs typeface="Arial" pitchFamily="34" charset="-120"/>
              </a:rPr>
              <a:t>A state key passed on?</a:t>
            </a:r>
            <a:endParaRPr lang="en-US" sz="1350" dirty="0"/>
          </a:p>
        </p:txBody>
      </p:sp>
      <p:sp>
        <p:nvSpPr>
          <p:cNvPr id="12" name="Text 10"/>
          <p:cNvSpPr txBox="1"/>
          <p:nvPr/>
        </p:nvSpPr>
        <p:spPr>
          <a:xfrm>
            <a:off x="3547872" y="2011680"/>
            <a:ext cx="2286000" cy="1417320"/>
          </a:xfrm>
          <a:prstGeom prst="rect">
            <a:avLst/>
          </a:prstGeom>
          <a:noFill/>
          <a:ln/>
        </p:spPr>
        <p:txBody>
          <a:bodyPr wrap="square" lIns="0" tIns="0" rIns="0" bIns="0" rtlCol="0" anchor="t"/>
          <a:lstStyle/>
          <a:p>
            <a:pPr indent="0" marL="0">
              <a:buNone/>
            </a:pPr>
            <a:r>
              <a:rPr lang="en-US" sz="1250" dirty="0">
                <a:solidFill>
                  <a:srgbClr val="14211F"/>
                </a:solidFill>
                <a:latin typeface="Arial" pitchFamily="34" charset="0"/>
                <a:ea typeface="Arial" pitchFamily="34" charset="-122"/>
                <a:cs typeface="Arial" pitchFamily="34" charset="-120"/>
              </a:rPr>
              <a:t>request_review: reviewer → planner. plan_stops: planner → auditor. audit_report: auditor → reviser.</a:t>
            </a:r>
            <a:endParaRPr lang="en-US" sz="1250" dirty="0"/>
          </a:p>
        </p:txBody>
      </p:sp>
      <p:sp>
        <p:nvSpPr>
          <p:cNvPr id="13" name="Shape 11"/>
          <p:cNvSpPr/>
          <p:nvPr/>
        </p:nvSpPr>
        <p:spPr>
          <a:xfrm>
            <a:off x="6181344" y="1280160"/>
            <a:ext cx="2633472" cy="2240280"/>
          </a:xfrm>
          <a:prstGeom prst="roundRect">
            <a:avLst>
              <a:gd name="adj" fmla="val 4898"/>
            </a:avLst>
          </a:prstGeom>
          <a:solidFill>
            <a:srgbClr val="FFFFFF"/>
          </a:solidFill>
          <a:ln w="12700">
            <a:solidFill>
              <a:srgbClr val="C7D2CE"/>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6364224" y="1463040"/>
            <a:ext cx="384048" cy="384048"/>
          </a:xfrm>
          <a:prstGeom prst="ellipse">
            <a:avLst/>
          </a:prstGeom>
          <a:solidFill>
            <a:srgbClr val="0D6B61"/>
          </a:solidFill>
          <a:ln w="12700">
            <a:solidFill>
              <a:srgbClr val="0D6B61"/>
            </a:solidFill>
            <a:prstDash val="solid"/>
          </a:ln>
        </p:spPr>
      </p:sp>
      <p:sp>
        <p:nvSpPr>
          <p:cNvPr id="15" name="Text 13"/>
          <p:cNvSpPr txBox="1"/>
          <p:nvPr/>
        </p:nvSpPr>
        <p:spPr>
          <a:xfrm>
            <a:off x="6364224" y="1463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6" name="Text 14"/>
          <p:cNvSpPr txBox="1"/>
          <p:nvPr/>
        </p:nvSpPr>
        <p:spPr>
          <a:xfrm>
            <a:off x="6867144" y="1463040"/>
            <a:ext cx="1810512" cy="457200"/>
          </a:xfrm>
          <a:prstGeom prst="rect">
            <a:avLst/>
          </a:prstGeom>
          <a:noFill/>
          <a:ln/>
        </p:spPr>
        <p:txBody>
          <a:bodyPr wrap="square" lIns="0" tIns="0" rIns="0" bIns="0" rtlCol="0" anchor="ctr"/>
          <a:lstStyle/>
          <a:p>
            <a:pPr indent="0" marL="0">
              <a:buNone/>
            </a:pPr>
            <a:r>
              <a:rPr lang="en-US" sz="1350" b="1" dirty="0">
                <a:solidFill>
                  <a:srgbClr val="14211F"/>
                </a:solidFill>
                <a:latin typeface="Arial" pitchFamily="34" charset="0"/>
                <a:ea typeface="Arial" pitchFamily="34" charset="-122"/>
                <a:cs typeface="Arial" pitchFamily="34" charset="-120"/>
              </a:rPr>
              <a:t>Conflicting instructions?</a:t>
            </a:r>
            <a:endParaRPr lang="en-US" sz="1350" dirty="0"/>
          </a:p>
        </p:txBody>
      </p:sp>
      <p:sp>
        <p:nvSpPr>
          <p:cNvPr id="17" name="Text 15"/>
          <p:cNvSpPr txBox="1"/>
          <p:nvPr/>
        </p:nvSpPr>
        <p:spPr>
          <a:xfrm>
            <a:off x="6364224" y="2011680"/>
            <a:ext cx="2286000" cy="1417320"/>
          </a:xfrm>
          <a:prstGeom prst="rect">
            <a:avLst/>
          </a:prstGeom>
          <a:noFill/>
          <a:ln/>
        </p:spPr>
        <p:txBody>
          <a:bodyPr wrap="square" lIns="0" tIns="0" rIns="0" bIns="0" rtlCol="0" anchor="t"/>
          <a:lstStyle/>
          <a:p>
            <a:pPr indent="0" marL="0">
              <a:buNone/>
            </a:pPr>
            <a:r>
              <a:rPr lang="en-US" sz="1250" dirty="0">
                <a:solidFill>
                  <a:srgbClr val="14211F"/>
                </a:solidFill>
                <a:latin typeface="Arial" pitchFamily="34" charset="0"/>
                <a:ea typeface="Arial" pitchFamily="34" charset="-122"/>
                <a:cs typeface="Arial" pitchFamily="34" charset="-120"/>
              </a:rPr>
              <a:t>Planner: hedge, cite, label every scale. Explainer and helpers: warm, plain, no statistics, EN + ES.</a:t>
            </a:r>
            <a:endParaRPr lang="en-US" sz="1250" dirty="0"/>
          </a:p>
        </p:txBody>
      </p:sp>
      <p:sp>
        <p:nvSpPr>
          <p:cNvPr id="18" name="Shape 16"/>
          <p:cNvSpPr/>
          <p:nvPr/>
        </p:nvSpPr>
        <p:spPr>
          <a:xfrm>
            <a:off x="8997696" y="1280160"/>
            <a:ext cx="2633472" cy="2240280"/>
          </a:xfrm>
          <a:prstGeom prst="roundRect">
            <a:avLst>
              <a:gd name="adj" fmla="val 4898"/>
            </a:avLst>
          </a:prstGeom>
          <a:solidFill>
            <a:srgbClr val="FFFFFF"/>
          </a:solidFill>
          <a:ln w="12700">
            <a:solidFill>
              <a:srgbClr val="C7D2CE"/>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9180576" y="1463040"/>
            <a:ext cx="384048" cy="384048"/>
          </a:xfrm>
          <a:prstGeom prst="ellipse">
            <a:avLst/>
          </a:prstGeom>
          <a:solidFill>
            <a:srgbClr val="0D6B61"/>
          </a:solidFill>
          <a:ln w="12700">
            <a:solidFill>
              <a:srgbClr val="0D6B61"/>
            </a:solidFill>
            <a:prstDash val="solid"/>
          </a:ln>
        </p:spPr>
      </p:sp>
      <p:sp>
        <p:nvSpPr>
          <p:cNvPr id="20" name="Text 18"/>
          <p:cNvSpPr txBox="1"/>
          <p:nvPr/>
        </p:nvSpPr>
        <p:spPr>
          <a:xfrm>
            <a:off x="9180576" y="1463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1" name="Text 19"/>
          <p:cNvSpPr txBox="1"/>
          <p:nvPr/>
        </p:nvSpPr>
        <p:spPr>
          <a:xfrm>
            <a:off x="9683496" y="1463040"/>
            <a:ext cx="1810512" cy="457200"/>
          </a:xfrm>
          <a:prstGeom prst="rect">
            <a:avLst/>
          </a:prstGeom>
          <a:noFill/>
          <a:ln/>
        </p:spPr>
        <p:txBody>
          <a:bodyPr wrap="square" lIns="0" tIns="0" rIns="0" bIns="0" rtlCol="0" anchor="ctr"/>
          <a:lstStyle/>
          <a:p>
            <a:pPr indent="0" marL="0">
              <a:buNone/>
            </a:pPr>
            <a:r>
              <a:rPr lang="en-US" sz="1350" b="1" dirty="0">
                <a:solidFill>
                  <a:srgbClr val="14211F"/>
                </a:solidFill>
                <a:latin typeface="Arial" pitchFamily="34" charset="0"/>
                <a:ea typeface="Arial" pitchFamily="34" charset="-122"/>
                <a:cs typeface="Arial" pitchFamily="34" charset="-120"/>
              </a:rPr>
              <a:t>Rejected its own answer?</a:t>
            </a:r>
            <a:endParaRPr lang="en-US" sz="1350" dirty="0"/>
          </a:p>
        </p:txBody>
      </p:sp>
      <p:sp>
        <p:nvSpPr>
          <p:cNvPr id="22" name="Text 20"/>
          <p:cNvSpPr txBox="1"/>
          <p:nvPr/>
        </p:nvSpPr>
        <p:spPr>
          <a:xfrm>
            <a:off x="9180576" y="2011680"/>
            <a:ext cx="2286000" cy="1417320"/>
          </a:xfrm>
          <a:prstGeom prst="rect">
            <a:avLst/>
          </a:prstGeom>
          <a:noFill/>
          <a:ln/>
        </p:spPr>
        <p:txBody>
          <a:bodyPr wrap="square" lIns="0" tIns="0" rIns="0" bIns="0" rtlCol="0" anchor="t"/>
          <a:lstStyle/>
          <a:p>
            <a:pPr indent="0" marL="0">
              <a:buNone/>
            </a:pPr>
            <a:r>
              <a:rPr lang="en-US" sz="1250" dirty="0">
                <a:solidFill>
                  <a:srgbClr val="14211F"/>
                </a:solidFill>
                <a:latin typeface="Arial" pitchFamily="34" charset="0"/>
                <a:ea typeface="Arial" pitchFamily="34" charset="-122"/>
                <a:cs typeface="Arial" pitchFamily="34" charset="-120"/>
              </a:rPr>
              <a:t>Audit round 1: REVISE, 65+ at 5.4% vs 13.4%. And the reviewer refuses or adjusts rule-breaking requests.</a:t>
            </a:r>
            <a:endParaRPr lang="en-US" sz="1250" dirty="0"/>
          </a:p>
        </p:txBody>
      </p:sp>
      <p:sp>
        <p:nvSpPr>
          <p:cNvPr id="23" name="Shape 21"/>
          <p:cNvSpPr/>
          <p:nvPr/>
        </p:nvSpPr>
        <p:spPr>
          <a:xfrm>
            <a:off x="548640" y="3794760"/>
            <a:ext cx="5486400" cy="2377440"/>
          </a:xfrm>
          <a:prstGeom prst="roundRect">
            <a:avLst>
              <a:gd name="adj" fmla="val 4615"/>
            </a:avLst>
          </a:prstGeom>
          <a:solidFill>
            <a:srgbClr val="F4F7F6"/>
          </a:solidFill>
          <a:ln w="12700">
            <a:solidFill>
              <a:srgbClr val="F4F7F6"/>
            </a:solidFill>
            <a:prstDash val="solid"/>
          </a:ln>
        </p:spPr>
      </p:sp>
      <p:sp>
        <p:nvSpPr>
          <p:cNvPr id="24" name="Text 22"/>
          <p:cNvSpPr txBox="1"/>
          <p:nvPr/>
        </p:nvSpPr>
        <p:spPr>
          <a:xfrm>
            <a:off x="777240" y="3931920"/>
            <a:ext cx="5029200" cy="320040"/>
          </a:xfrm>
          <a:prstGeom prst="rect">
            <a:avLst/>
          </a:prstGeom>
          <a:noFill/>
          <a:ln/>
        </p:spPr>
        <p:txBody>
          <a:bodyPr wrap="square" lIns="0" tIns="0" rIns="0" bIns="0" rtlCol="0" anchor="t"/>
          <a:lstStyle/>
          <a:p>
            <a:pPr indent="0" marL="0">
              <a:buNone/>
            </a:pPr>
            <a:r>
              <a:rPr lang="en-US" sz="1500" b="1" dirty="0">
                <a:solidFill>
                  <a:srgbClr val="14211F"/>
                </a:solidFill>
                <a:latin typeface="Arial" pitchFamily="34" charset="0"/>
                <a:ea typeface="Arial" pitchFamily="34" charset="-122"/>
                <a:cs typeface="Arial" pitchFamily="34" charset="-120"/>
              </a:rPr>
              <a:t>What we can't tell you</a:t>
            </a:r>
            <a:endParaRPr lang="en-US" sz="1500" dirty="0"/>
          </a:p>
        </p:txBody>
      </p:sp>
      <p:sp>
        <p:nvSpPr>
          <p:cNvPr id="25" name="Text 23"/>
          <p:cNvSpPr txBox="1"/>
          <p:nvPr/>
        </p:nvSpPr>
        <p:spPr>
          <a:xfrm>
            <a:off x="777240" y="4315968"/>
            <a:ext cx="5120640" cy="17830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4211F"/>
                </a:solidFill>
                <a:latin typeface="Arial" pitchFamily="34" charset="0"/>
                <a:ea typeface="Arial" pitchFamily="34" charset="-122"/>
                <a:cs typeface="Arial" pitchFamily="34" charset="-120"/>
              </a:rPr>
              <a:t>Disease and uninsured rates are modeled tract estimates, not counts</a:t>
            </a:r>
            <a:endParaRPr lang="en-US" sz="1300" dirty="0"/>
          </a:p>
          <a:p>
            <a:pPr marL="342900" indent="-342900">
              <a:spcAft>
                <a:spcPts val="400"/>
              </a:spcAft>
              <a:buSzPct val="100000"/>
              <a:buChar char="•"/>
            </a:pPr>
            <a:r>
              <a:rPr lang="en-US" sz="1300" dirty="0">
                <a:solidFill>
                  <a:srgbClr val="14211F"/>
                </a:solidFill>
                <a:latin typeface="Arial" pitchFamily="34" charset="0"/>
                <a:ea typeface="Arial" pitchFamily="34" charset="-122"/>
                <a:cs typeface="Arial" pitchFamily="34" charset="-120"/>
              </a:rPr>
              <a:t>Distances are straight-line to federal clinics: upper bounds</a:t>
            </a:r>
            <a:endParaRPr lang="en-US" sz="1300" dirty="0"/>
          </a:p>
          <a:p>
            <a:pPr marL="342900" indent="-342900">
              <a:spcAft>
                <a:spcPts val="400"/>
              </a:spcAft>
              <a:buSzPct val="100000"/>
              <a:buChar char="•"/>
            </a:pPr>
            <a:r>
              <a:rPr lang="en-US" sz="1300" dirty="0">
                <a:solidFill>
                  <a:srgbClr val="14211F"/>
                </a:solidFill>
                <a:latin typeface="Arial" pitchFamily="34" charset="0"/>
                <a:ea typeface="Arial" pitchFamily="34" charset="-122"/>
                <a:cs typeface="Arial" pitchFamily="34" charset="-120"/>
              </a:rPr>
              <a:t>Air is a 12 km grid; respiratory data covers 4 counties, ~80 days old</a:t>
            </a:r>
            <a:endParaRPr lang="en-US" sz="1300" dirty="0"/>
          </a:p>
          <a:p>
            <a:pPr marL="342900" indent="-342900">
              <a:spcAft>
                <a:spcPts val="400"/>
              </a:spcAft>
              <a:buSzPct val="100000"/>
              <a:buChar char="•"/>
            </a:pPr>
            <a:r>
              <a:rPr lang="en-US" sz="1300" dirty="0">
                <a:solidFill>
                  <a:srgbClr val="14211F"/>
                </a:solidFill>
                <a:latin typeface="Arial" pitchFamily="34" charset="0"/>
                <a:ea typeface="Arial" pitchFamily="34" charset="-122"/>
                <a:cs typeface="Arial" pitchFamily="34" charset="-120"/>
              </a:rPr>
              <a:t>Zero live shortage areas in Fulton: no signal isn't no problem</a:t>
            </a:r>
            <a:endParaRPr lang="en-US" sz="1300" dirty="0"/>
          </a:p>
        </p:txBody>
      </p:sp>
      <p:sp>
        <p:nvSpPr>
          <p:cNvPr id="26" name="Shape 24"/>
          <p:cNvSpPr/>
          <p:nvPr/>
        </p:nvSpPr>
        <p:spPr>
          <a:xfrm>
            <a:off x="6263640" y="3794760"/>
            <a:ext cx="5349240" cy="2377440"/>
          </a:xfrm>
          <a:prstGeom prst="roundRect">
            <a:avLst>
              <a:gd name="adj" fmla="val 4615"/>
            </a:avLst>
          </a:prstGeom>
          <a:solidFill>
            <a:srgbClr val="E1F0EC"/>
          </a:solidFill>
          <a:ln w="12700">
            <a:solidFill>
              <a:srgbClr val="E1F0EC"/>
            </a:solidFill>
            <a:prstDash val="solid"/>
          </a:ln>
        </p:spPr>
      </p:sp>
      <p:sp>
        <p:nvSpPr>
          <p:cNvPr id="27" name="Text 25"/>
          <p:cNvSpPr txBox="1"/>
          <p:nvPr/>
        </p:nvSpPr>
        <p:spPr>
          <a:xfrm>
            <a:off x="6492240" y="3931920"/>
            <a:ext cx="4937760" cy="320040"/>
          </a:xfrm>
          <a:prstGeom prst="rect">
            <a:avLst/>
          </a:prstGeom>
          <a:noFill/>
          <a:ln/>
        </p:spPr>
        <p:txBody>
          <a:bodyPr wrap="square" lIns="0" tIns="0" rIns="0" bIns="0" rtlCol="0" anchor="t"/>
          <a:lstStyle/>
          <a:p>
            <a:pPr indent="0" marL="0">
              <a:buNone/>
            </a:pPr>
            <a:r>
              <a:rPr lang="en-US" sz="1500" b="1" dirty="0">
                <a:solidFill>
                  <a:srgbClr val="0D6B61"/>
                </a:solidFill>
                <a:latin typeface="Arial" pitchFamily="34" charset="0"/>
                <a:ea typeface="Arial" pitchFamily="34" charset="-122"/>
                <a:cs typeface="Arial" pitchFamily="34" charset="-120"/>
              </a:rPr>
              <a:t>What we'd do next</a:t>
            </a:r>
            <a:endParaRPr lang="en-US" sz="1500" dirty="0"/>
          </a:p>
        </p:txBody>
      </p:sp>
      <p:sp>
        <p:nvSpPr>
          <p:cNvPr id="28" name="Text 26"/>
          <p:cNvSpPr txBox="1"/>
          <p:nvPr/>
        </p:nvSpPr>
        <p:spPr>
          <a:xfrm>
            <a:off x="6492240" y="4315968"/>
            <a:ext cx="4983480" cy="17830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4211F"/>
                </a:solidFill>
                <a:latin typeface="Arial" pitchFamily="34" charset="0"/>
                <a:ea typeface="Arial" pitchFamily="34" charset="-122"/>
                <a:cs typeface="Arial" pitchFamily="34" charset="-120"/>
              </a:rPr>
              <a:t>A field-report agent: the nurse reports who came and from where, feeding next month's plan</a:t>
            </a:r>
            <a:endParaRPr lang="en-US" sz="1300" dirty="0"/>
          </a:p>
          <a:p>
            <a:pPr marL="342900" indent="-342900">
              <a:spcAft>
                <a:spcPts val="400"/>
              </a:spcAft>
              <a:buSzPct val="100000"/>
              <a:buChar char="•"/>
            </a:pPr>
            <a:r>
              <a:rPr lang="en-US" sz="1300" dirty="0">
                <a:solidFill>
                  <a:srgbClr val="14211F"/>
                </a:solidFill>
                <a:latin typeface="Arial" pitchFamily="34" charset="0"/>
                <a:ea typeface="Arial" pitchFamily="34" charset="-122"/>
                <a:cs typeface="Arial" pitchFamily="34" charset="-120"/>
              </a:rPr>
              <a:t>PLACES confidence intervals, so near-ties are treated as ties</a:t>
            </a:r>
            <a:endParaRPr lang="en-US" sz="1300" dirty="0"/>
          </a:p>
          <a:p>
            <a:pPr marL="342900" indent="-342900">
              <a:spcAft>
                <a:spcPts val="400"/>
              </a:spcAft>
              <a:buSzPct val="100000"/>
              <a:buChar char="•"/>
            </a:pPr>
            <a:r>
              <a:rPr lang="en-US" sz="1300" dirty="0">
                <a:solidFill>
                  <a:srgbClr val="14211F"/>
                </a:solidFill>
                <a:latin typeface="Arial" pitchFamily="34" charset="0"/>
                <a:ea typeface="Arial" pitchFamily="34" charset="-122"/>
                <a:cs typeface="Arial" pitchFamily="34" charset="-120"/>
              </a:rPr>
              <a:t>Clinics across the county line, and travel time once licensable data exists</a:t>
            </a:r>
            <a:endParaRPr lang="en-US" sz="1300" dirty="0"/>
          </a:p>
          <a:p>
            <a:pPr marL="342900" indent="-342900">
              <a:spcAft>
                <a:spcPts val="400"/>
              </a:spcAft>
              <a:buSzPct val="100000"/>
              <a:buChar char="•"/>
            </a:pPr>
            <a:r>
              <a:rPr lang="en-US" sz="1300" dirty="0">
                <a:solidFill>
                  <a:srgbClr val="14211F"/>
                </a:solidFill>
                <a:latin typeface="Arial" pitchFamily="34" charset="0"/>
                <a:ea typeface="Arial" pitchFamily="34" charset="-122"/>
                <a:cs typeface="Arial" pitchFamily="34" charset="-120"/>
              </a:rPr>
              <a:t>More counties: Cook adds 498 live shortage areas</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45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 Broker</dc:title>
  <dc:subject>Mobile clinic siting for Fulton County, GA</dc:subject>
  <dc:creator>PptxGenJS</dc:creator>
  <cp:lastModifiedBy>PptxGenJS</cp:lastModifiedBy>
  <cp:revision>1</cp:revision>
  <dcterms:created xsi:type="dcterms:W3CDTF">2026-10-20T19:32:01Z</dcterms:created>
  <dcterms:modified xsi:type="dcterms:W3CDTF">2026-10-20T19:32:01Z</dcterms:modified>
</cp:coreProperties>
</file>